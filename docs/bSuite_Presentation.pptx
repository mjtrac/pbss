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media/image2.png" ContentType="image/png"/>
  <Override PartName="/ppt/media/image10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6.xml.rels" ContentType="application/vnd.openxmlformats-package.relationships+xml"/>
  <Override PartName="/ppt/slides/_rels/slide1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EE207F9-F39C-484D-890D-628CA643050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Welcome. bSuite is a complete open-source ballot management system covering design, printing, scanning, and auditing.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D1DB04-6E66-4D33-8EA8-DE119C3684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bBuilder runs on 8080, bCounter on 8081, bViewer on 8082 (embedded in bCounter — one process, two ports).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52F4C5-04F2-4F94-A711-D21242D931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bBuilder also exports XML. The YAML/XML layout files drive bCounter's indicator detection — no manual configuration needed on the scanning side.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45191E-E429-44FD-9F01-42BA69CF9A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Replace this slide with a live screenshot of the bBuilder Print Ballot page. Show the language dropdown when a non-English language has been configured.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198340-D5E8-4264-9DA2-B2B74ADD64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ranked-choice rank boxes shrink with increasing rank so the voter understands visually that rank 1 is the most important. The box closest to the candidate name is always rank 1.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CEBA1C-85D4-4D17-843D-FD4D045E05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multi-pass feature means you can drop new ballot images into the folder while a scan is running — bCounter will pick them up automatically without restarting.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BD7F01-0E57-4564-A869-D02A564E60A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'View Scanned Ballots' button appears after 100 images or 10% of the total have been processed. It links to bViewer on port 8082 where you can inspect individual ballot images with vote overlays.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334E7E-CAD7-4708-9A14-22715C2A552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bViewer reads counter_results.db directly — the same database bCounter writes to. It's read-only, so browsing during a scan has no impact on counting.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AD8EC1-64DD-46C4-A5D9-CB4DD5A0336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Show a ballot with a mix of voted (green) and unmarked (blue) indicators. A ranked-choice ballot makes a particularly good example — the rank boxes should each have a different colour.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8E641D-4FA3-425C-B430-1EBA74545E7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All report files are written to reports.output.dir (default: the bCounter working directory). The path is configurable in application.properties.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1929C8-7366-43AB-88FF-21380E30D19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IRV result is written to rcv_report.html alongside the other scan reports. The report shows every round so election officials can trace exactly how the winner was determined.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4239AF-CE65-4FC4-975C-8FA56C0CA9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Adding a new language requires only a properties file for fixed strings and entering translations in the UI. No Java changes needed.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725A9B-57DA-4ADB-85B3-2EC82ABC4C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Arlo is open source and can be self-hosted. The bCounter CVR format follows Arlo's generic CSV specification.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28DCDC-73A4-4557-AF4B-D6A67FE0C2D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test harness runs with ./run_all.sh and takes about 25-35 minutes on a modern laptop. The --counter-dir flag handles stop/reset/restart of bCounter automatically.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33D43D-F2AA-4AAB-BF7D-B14A53012AE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First Maven build downloads ~200 MB of dependencies. Subsequent starts take 5-15 seconds. Java 21 is the minimum — Java 25 (as used in testing) also works.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5D9BBD-EBE0-4F88-A975-5B20A8E6D1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548640" y="640080"/>
            <a:ext cx="8046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Cambria"/>
                <a:ea typeface="Cambria"/>
              </a:rPr>
              <a:t>bSuite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548640" y="18288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Election Ballot Management System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48640" y="24231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fa8c8"/>
                </a:solidFill>
                <a:latin typeface="Calibri"/>
                <a:ea typeface="Calibri"/>
              </a:rPr>
              <a:t>Open-source • Multi-language • Audit-ready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548640" y="3200400"/>
            <a:ext cx="2559960" cy="822600"/>
          </a:xfrm>
          <a:prstGeom prst="roundRect">
            <a:avLst>
              <a:gd name="adj" fmla="val 13333"/>
            </a:avLst>
          </a:prstGeom>
          <a:solidFill>
            <a:srgbClr val="223566"/>
          </a:solidFill>
          <a:ln w="12700">
            <a:solidFill>
              <a:srgbClr val="3a5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685800" y="33102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49" name="Text 4"/>
          <p:cNvSpPr/>
          <p:nvPr/>
        </p:nvSpPr>
        <p:spPr>
          <a:xfrm>
            <a:off x="1051560" y="3273480"/>
            <a:ext cx="2011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Design Ballots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3383280" y="3200400"/>
            <a:ext cx="2559960" cy="822600"/>
          </a:xfrm>
          <a:prstGeom prst="roundRect">
            <a:avLst>
              <a:gd name="adj" fmla="val 13333"/>
            </a:avLst>
          </a:prstGeom>
          <a:solidFill>
            <a:srgbClr val="223566"/>
          </a:solidFill>
          <a:ln w="12700">
            <a:solidFill>
              <a:srgbClr val="3a5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1" name="Image 1" descr="preencoded.png"/>
          <p:cNvPicPr/>
          <p:nvPr/>
        </p:nvPicPr>
        <p:blipFill>
          <a:blip r:embed="rId2"/>
          <a:stretch/>
        </p:blipFill>
        <p:spPr>
          <a:xfrm>
            <a:off x="3520440" y="33102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52" name="Text 6"/>
          <p:cNvSpPr/>
          <p:nvPr/>
        </p:nvSpPr>
        <p:spPr>
          <a:xfrm>
            <a:off x="3886200" y="3273480"/>
            <a:ext cx="2011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Count Votes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6217920" y="3200400"/>
            <a:ext cx="2559960" cy="822600"/>
          </a:xfrm>
          <a:prstGeom prst="roundRect">
            <a:avLst>
              <a:gd name="adj" fmla="val 13333"/>
            </a:avLst>
          </a:prstGeom>
          <a:solidFill>
            <a:srgbClr val="223566"/>
          </a:solidFill>
          <a:ln w="12700">
            <a:solidFill>
              <a:srgbClr val="3a5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2" descr="preencoded.png"/>
          <p:cNvPicPr/>
          <p:nvPr/>
        </p:nvPicPr>
        <p:blipFill>
          <a:blip r:embed="rId3"/>
          <a:stretch/>
        </p:blipFill>
        <p:spPr>
          <a:xfrm>
            <a:off x="6355080" y="33102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55" name="Text 8"/>
          <p:cNvSpPr/>
          <p:nvPr/>
        </p:nvSpPr>
        <p:spPr>
          <a:xfrm>
            <a:off x="6720840" y="3273480"/>
            <a:ext cx="2011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Audit Results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548640" y="46634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fa8c8"/>
                </a:solidFill>
                <a:latin typeface="Calibri"/>
                <a:ea typeface="Calibri"/>
              </a:rPr>
              <a:t>github.com/mjtrac/bSuite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System Overview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Three integrated components — one workflow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320040" y="1143000"/>
            <a:ext cx="2742840" cy="3657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320040" y="1143000"/>
            <a:ext cx="2742840" cy="685440"/>
          </a:xfrm>
          <a:prstGeom prst="roundRect">
            <a:avLst>
              <a:gd name="adj" fmla="val 10667"/>
            </a:avLst>
          </a:prstGeom>
          <a:solidFill>
            <a:srgbClr val="1a4a7a"/>
          </a:solidFill>
          <a:ln w="12700">
            <a:solidFill>
              <a:srgbClr val="1a4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429840" y="12528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3" name="Text 5"/>
          <p:cNvSpPr/>
          <p:nvPr/>
        </p:nvSpPr>
        <p:spPr>
          <a:xfrm>
            <a:off x="822960" y="1188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bBuilder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6"/>
          <p:cNvSpPr/>
          <p:nvPr/>
        </p:nvSpPr>
        <p:spPr>
          <a:xfrm>
            <a:off x="429840" y="16002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Port 8080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429840" y="1874520"/>
            <a:ext cx="2523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Design elections, enter candidates, set contest types, configure ballot templates, generate PDF ballots with barcodes and YAML layout files.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3200400" y="1143000"/>
            <a:ext cx="2742840" cy="3657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3200400" y="1143000"/>
            <a:ext cx="2742840" cy="685440"/>
          </a:xfrm>
          <a:prstGeom prst="roundRect">
            <a:avLst>
              <a:gd name="adj" fmla="val 10667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3310200" y="12528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9" name="Text 10"/>
          <p:cNvSpPr/>
          <p:nvPr/>
        </p:nvSpPr>
        <p:spPr>
          <a:xfrm>
            <a:off x="3703320" y="1188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bCounter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3310200" y="16002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Port 8081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3310200" y="1874520"/>
            <a:ext cx="2523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Scan ballot image files, detect orientation marks, decode barcodes, count votes, detect overvotes, run ranked-choice IRV tabulation, write Arlo RLA exports.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080760" y="1143000"/>
            <a:ext cx="2742840" cy="3657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6080760" y="1143000"/>
            <a:ext cx="2742840" cy="685440"/>
          </a:xfrm>
          <a:prstGeom prst="roundRect">
            <a:avLst>
              <a:gd name="adj" fmla="val 10667"/>
            </a:avLst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 2" descr="preencoded.png"/>
          <p:cNvPicPr/>
          <p:nvPr/>
        </p:nvPicPr>
        <p:blipFill>
          <a:blip r:embed="rId3"/>
          <a:stretch/>
        </p:blipFill>
        <p:spPr>
          <a:xfrm>
            <a:off x="6190560" y="12528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5" name="Text 15"/>
          <p:cNvSpPr/>
          <p:nvPr/>
        </p:nvSpPr>
        <p:spPr>
          <a:xfrm>
            <a:off x="6583680" y="118872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bViewer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6190560" y="16002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  <a:ea typeface="Calibri"/>
              </a:rPr>
              <a:t>Port 8082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6190560" y="1874520"/>
            <a:ext cx="2523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Browse scanned ballot images with color-coded vote indicator overlays (green=voted, yellow=overvoted, blue=unmarked). Runs embedded inside bCounter.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8"/>
          <p:cNvSpPr/>
          <p:nvPr/>
        </p:nvSpPr>
        <p:spPr>
          <a:xfrm>
            <a:off x="2999160" y="150876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5879520" y="1508760"/>
            <a:ext cx="182880" cy="360"/>
          </a:xfrm>
          <a:prstGeom prst="line">
            <a:avLst/>
          </a:prstGeom>
          <a:ln w="19050">
            <a:solidFill>
              <a:srgbClr val="94a3b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bBuilder — Ballot Design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localhost:8080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320040" y="1234440"/>
            <a:ext cx="27428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438840" y="135324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541800" y="145620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86" name="Text 5"/>
          <p:cNvSpPr/>
          <p:nvPr/>
        </p:nvSpPr>
        <p:spPr>
          <a:xfrm>
            <a:off x="1033200" y="1325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Quick Setup Wizard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429840" y="187452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Creates a complete election with jurisdiction, regions, contests, and candidates in minutes.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3200400" y="1234440"/>
            <a:ext cx="27428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3319200" y="135324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1" descr="preencoded.png"/>
          <p:cNvPicPr/>
          <p:nvPr/>
        </p:nvPicPr>
        <p:blipFill>
          <a:blip r:embed="rId2"/>
          <a:stretch/>
        </p:blipFill>
        <p:spPr>
          <a:xfrm>
            <a:off x="3422160" y="145620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91" name="Text 9"/>
          <p:cNvSpPr/>
          <p:nvPr/>
        </p:nvSpPr>
        <p:spPr>
          <a:xfrm>
            <a:off x="3913560" y="1325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Contest Types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3310200" y="187452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Plurality, ranked-choice, approval, and measure — each with appropriate voting instructions.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6080760" y="1234440"/>
            <a:ext cx="27428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6199560" y="135324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2" descr="preencoded.png"/>
          <p:cNvPicPr/>
          <p:nvPr/>
        </p:nvPicPr>
        <p:blipFill>
          <a:blip r:embed="rId3"/>
          <a:stretch/>
        </p:blipFill>
        <p:spPr>
          <a:xfrm>
            <a:off x="6302520" y="145620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96" name="Text 13"/>
          <p:cNvSpPr/>
          <p:nvPr/>
        </p:nvSpPr>
        <p:spPr>
          <a:xfrm>
            <a:off x="6793920" y="1325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PDF + YAML Generation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6190560" y="187452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Prints ballot PDFs with barcodes (QR + Code 128) and exports YAML layout files for bCounter or to ease creation of alternate counting software.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320040" y="3063240"/>
            <a:ext cx="27428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438840" y="318204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3" descr="preencoded.png"/>
          <p:cNvPicPr/>
          <p:nvPr/>
        </p:nvPicPr>
        <p:blipFill>
          <a:blip r:embed="rId4"/>
          <a:stretch/>
        </p:blipFill>
        <p:spPr>
          <a:xfrm>
            <a:off x="541800" y="328500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101" name="Text 17"/>
          <p:cNvSpPr/>
          <p:nvPr/>
        </p:nvSpPr>
        <p:spPr>
          <a:xfrm>
            <a:off x="1033200" y="31546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Multi-language Support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429840" y="370332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Ballots printed in English, Spanish, Chinese, or any language with a properties file. Same barcodes and YAML across all languages.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3200400" y="3063240"/>
            <a:ext cx="27428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3319200" y="318204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" name="Image 4" descr="preencoded.png"/>
          <p:cNvPicPr/>
          <p:nvPr/>
        </p:nvPicPr>
        <p:blipFill>
          <a:blip r:embed="rId5"/>
          <a:stretch/>
        </p:blipFill>
        <p:spPr>
          <a:xfrm>
            <a:off x="3422160" y="328500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106" name="Text 21"/>
          <p:cNvSpPr/>
          <p:nvPr/>
        </p:nvSpPr>
        <p:spPr>
          <a:xfrm>
            <a:off x="3913560" y="31546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Flexible Templates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2"/>
          <p:cNvSpPr/>
          <p:nvPr/>
        </p:nvSpPr>
        <p:spPr>
          <a:xfrm>
            <a:off x="3310200" y="370332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Configurable margins, font sizes, column counts, paper size, oval vs. checkbox indicators, and header text.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6080760" y="3063240"/>
            <a:ext cx="274284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4"/>
          <p:cNvSpPr/>
          <p:nvPr/>
        </p:nvSpPr>
        <p:spPr>
          <a:xfrm>
            <a:off x="6199560" y="318204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Image 5" descr="preencoded.png"/>
          <p:cNvPicPr/>
          <p:nvPr/>
        </p:nvPicPr>
        <p:blipFill>
          <a:blip r:embed="rId6"/>
          <a:stretch/>
        </p:blipFill>
        <p:spPr>
          <a:xfrm>
            <a:off x="6302520" y="328500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111" name="Text 25"/>
          <p:cNvSpPr/>
          <p:nvPr/>
        </p:nvSpPr>
        <p:spPr>
          <a:xfrm>
            <a:off x="6793920" y="31546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Role-based Access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6"/>
          <p:cNvSpPr/>
          <p:nvPr/>
        </p:nvSpPr>
        <p:spPr>
          <a:xfrm>
            <a:off x="6190560" y="3703320"/>
            <a:ext cx="2523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ADMIN, DATA_ENTRY, and PRINTER roles control who can design elections, enter data, or print ballots.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bBuilder — UI Walkthrough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Screenshot: ballot design workflow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365760" y="1097280"/>
            <a:ext cx="8412120" cy="4568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02920" y="1134000"/>
            <a:ext cx="1193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⚡ </a:t>
            </a: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Quick Setup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1742040" y="1134000"/>
            <a:ext cx="882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Elections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2670120" y="1134000"/>
            <a:ext cx="726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Regions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3442680" y="1134000"/>
            <a:ext cx="726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Parties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4215240" y="1134000"/>
            <a:ext cx="1115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Ballot Types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5376600" y="1134000"/>
            <a:ext cx="804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Contests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6226920" y="1134000"/>
            <a:ext cx="882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Languages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7155360" y="1134000"/>
            <a:ext cx="1115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Combinations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8316360" y="1134000"/>
            <a:ext cx="1115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d700"/>
                </a:solidFill>
                <a:latin typeface="Calibri"/>
                <a:ea typeface="Calibri"/>
              </a:rPr>
              <a:t>Print Ballot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365760" y="1600200"/>
            <a:ext cx="8412120" cy="32000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48640" y="1737360"/>
            <a:ext cx="3657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a2744"/>
                </a:solidFill>
                <a:latin typeface="Cambria"/>
                <a:ea typeface="Cambria"/>
              </a:rPr>
              <a:t>Print Ballot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548640" y="224028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Ballot Combination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2926080" y="2221920"/>
            <a:ext cx="4114440" cy="273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3017520" y="22402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Precinct 1 — Democratic — Standard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548640" y="28346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Language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9"/>
          <p:cNvSpPr/>
          <p:nvPr/>
        </p:nvSpPr>
        <p:spPr>
          <a:xfrm>
            <a:off x="2926080" y="2816280"/>
            <a:ext cx="4114440" cy="273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3017520" y="28346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English (default) 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548640" y="34290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Copies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22"/>
          <p:cNvSpPr/>
          <p:nvPr/>
        </p:nvSpPr>
        <p:spPr>
          <a:xfrm>
            <a:off x="2926080" y="3410640"/>
            <a:ext cx="4114440" cy="27396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3017520" y="342900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4"/>
          <p:cNvSpPr/>
          <p:nvPr/>
        </p:nvSpPr>
        <p:spPr>
          <a:xfrm>
            <a:off x="548640" y="4069080"/>
            <a:ext cx="2011320" cy="41112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5"/>
          <p:cNvSpPr/>
          <p:nvPr/>
        </p:nvSpPr>
        <p:spPr>
          <a:xfrm>
            <a:off x="548640" y="4096440"/>
            <a:ext cx="2011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Generate PDF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6"/>
          <p:cNvSpPr/>
          <p:nvPr/>
        </p:nvSpPr>
        <p:spPr>
          <a:xfrm>
            <a:off x="365760" y="475488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✦  </a:t>
            </a: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Screenshot placeholder — replace with actual bBuilder print screen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Ballot Features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What gets printed and why it matters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320040" y="1234440"/>
            <a:ext cx="255600" cy="255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320040" y="122544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658440" y="118872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Barcodes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658440" y="144468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QR + Code 128 barcodes encode jurisdiction, region, party, ballot type, election, and page. bCounter reads these to automatically apply the correct layout.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320040" y="1965960"/>
            <a:ext cx="255600" cy="255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320040" y="195696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658440" y="1920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Orientation marks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658440" y="217620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Corner marks let bCounter detect rotation, skew, and perspective distortion and correct for them before measuring indicator positions.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320040" y="2697480"/>
            <a:ext cx="255600" cy="255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320040" y="268848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658440" y="2651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Vote indicators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658440" y="290772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Oval (recommended for scanning) or checkbox. Ranked-choice contests print rank boxes — the closest box = rank 1, smaller boxes for lower ranks.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320040" y="3429000"/>
            <a:ext cx="255600" cy="255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320040" y="342000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658440" y="33832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Write-in slots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658440" y="363924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Fill lines with an associated oval. Write-in images are extracted to a review folder for adjudication.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320040" y="4160520"/>
            <a:ext cx="255600" cy="255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320040" y="415152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658440" y="41148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Multi-page support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658440" y="437076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Long ballots span multiple pages. Each page has its own barcode with the page number encoded. bCounter merges pages into one physical ballot record.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3"/>
          <p:cNvSpPr/>
          <p:nvPr/>
        </p:nvSpPr>
        <p:spPr>
          <a:xfrm>
            <a:off x="4892040" y="1143000"/>
            <a:ext cx="3931560" cy="3748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bCounter — Scanning &amp; Counting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localhost:8081  ·  Parallel processing, automatic detection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320040" y="1188720"/>
            <a:ext cx="2011320" cy="3565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1097280" y="109728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097280" y="109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6"/>
          <p:cNvSpPr/>
          <p:nvPr/>
        </p:nvSpPr>
        <p:spPr>
          <a:xfrm>
            <a:off x="1033200" y="1673280"/>
            <a:ext cx="585000" cy="5850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Image 0" descr="preencoded.png"/>
          <p:cNvPicPr/>
          <p:nvPr/>
        </p:nvPicPr>
        <p:blipFill>
          <a:blip r:embed="rId1"/>
          <a:stretch/>
        </p:blipFill>
        <p:spPr>
          <a:xfrm>
            <a:off x="1164960" y="1805040"/>
            <a:ext cx="321480" cy="321480"/>
          </a:xfrm>
          <a:prstGeom prst="rect">
            <a:avLst/>
          </a:prstGeom>
          <a:ln w="0">
            <a:noFill/>
          </a:ln>
        </p:spPr>
      </p:pic>
      <p:sp>
        <p:nvSpPr>
          <p:cNvPr id="172" name="Text 7"/>
          <p:cNvSpPr/>
          <p:nvPr/>
        </p:nvSpPr>
        <p:spPr>
          <a:xfrm>
            <a:off x="411480" y="2377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mbria"/>
                <a:ea typeface="Cambria"/>
              </a:rPr>
              <a:t>Configure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429840" y="2834640"/>
            <a:ext cx="17917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Enter image folder path and YAML layout folder. bCounter finds all PNG/TIFF/JPG files recursively.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2377440" y="2423160"/>
            <a:ext cx="91440" cy="360"/>
          </a:xfrm>
          <a:prstGeom prst="line">
            <a:avLst/>
          </a:prstGeom>
          <a:ln w="1905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2468880" y="1188720"/>
            <a:ext cx="2011320" cy="3565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3246120" y="109728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3246120" y="109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3182040" y="1673280"/>
            <a:ext cx="585000" cy="5850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Image 1" descr="preencoded.png"/>
          <p:cNvPicPr/>
          <p:nvPr/>
        </p:nvPicPr>
        <p:blipFill>
          <a:blip r:embed="rId2"/>
          <a:stretch/>
        </p:blipFill>
        <p:spPr>
          <a:xfrm>
            <a:off x="3313800" y="1805040"/>
            <a:ext cx="321480" cy="321480"/>
          </a:xfrm>
          <a:prstGeom prst="rect">
            <a:avLst/>
          </a:prstGeom>
          <a:ln w="0">
            <a:noFill/>
          </a:ln>
        </p:spPr>
      </p:pic>
      <p:sp>
        <p:nvSpPr>
          <p:cNvPr id="180" name="Text 14"/>
          <p:cNvSpPr/>
          <p:nvPr/>
        </p:nvSpPr>
        <p:spPr>
          <a:xfrm>
            <a:off x="2560320" y="2377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mbria"/>
                <a:ea typeface="Cambria"/>
              </a:rPr>
              <a:t>Scan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2578680" y="2834640"/>
            <a:ext cx="17917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Parallel worker threads detect corners, warp images, decode barcodes, and measure dark-pixel coverage per indicator.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6"/>
          <p:cNvSpPr/>
          <p:nvPr/>
        </p:nvSpPr>
        <p:spPr>
          <a:xfrm>
            <a:off x="4526280" y="2423160"/>
            <a:ext cx="91440" cy="360"/>
          </a:xfrm>
          <a:prstGeom prst="line">
            <a:avLst/>
          </a:prstGeom>
          <a:ln w="1905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4617720" y="1188720"/>
            <a:ext cx="2011320" cy="3565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8"/>
          <p:cNvSpPr/>
          <p:nvPr/>
        </p:nvSpPr>
        <p:spPr>
          <a:xfrm>
            <a:off x="5394960" y="109728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5394960" y="109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0"/>
          <p:cNvSpPr/>
          <p:nvPr/>
        </p:nvSpPr>
        <p:spPr>
          <a:xfrm>
            <a:off x="5330880" y="1673280"/>
            <a:ext cx="585000" cy="5850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Image 2" descr="preencoded.png"/>
          <p:cNvPicPr/>
          <p:nvPr/>
        </p:nvPicPr>
        <p:blipFill>
          <a:blip r:embed="rId3"/>
          <a:stretch/>
        </p:blipFill>
        <p:spPr>
          <a:xfrm>
            <a:off x="5462640" y="1805040"/>
            <a:ext cx="321480" cy="321480"/>
          </a:xfrm>
          <a:prstGeom prst="rect">
            <a:avLst/>
          </a:prstGeom>
          <a:ln w="0">
            <a:noFill/>
          </a:ln>
        </p:spPr>
      </p:pic>
      <p:sp>
        <p:nvSpPr>
          <p:cNvPr id="188" name="Text 21"/>
          <p:cNvSpPr/>
          <p:nvPr/>
        </p:nvSpPr>
        <p:spPr>
          <a:xfrm>
            <a:off x="4709160" y="2377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mbria"/>
                <a:ea typeface="Cambria"/>
              </a:rPr>
              <a:t>Count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2"/>
          <p:cNvSpPr/>
          <p:nvPr/>
        </p:nvSpPr>
        <p:spPr>
          <a:xfrm>
            <a:off x="4727520" y="2834640"/>
            <a:ext cx="17917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Vote status assigned (VOTED/UNMARKED/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OVERVOTED). Multi-pass scanning picks up any new files added to the folder.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3"/>
          <p:cNvSpPr/>
          <p:nvPr/>
        </p:nvSpPr>
        <p:spPr>
          <a:xfrm>
            <a:off x="6675120" y="2423160"/>
            <a:ext cx="91440" cy="360"/>
          </a:xfrm>
          <a:prstGeom prst="line">
            <a:avLst/>
          </a:prstGeom>
          <a:ln w="1905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4"/>
          <p:cNvSpPr/>
          <p:nvPr/>
        </p:nvSpPr>
        <p:spPr>
          <a:xfrm>
            <a:off x="6766560" y="1188720"/>
            <a:ext cx="2011320" cy="35658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5"/>
          <p:cNvSpPr/>
          <p:nvPr/>
        </p:nvSpPr>
        <p:spPr>
          <a:xfrm>
            <a:off x="7543800" y="1097280"/>
            <a:ext cx="456840" cy="45684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26"/>
          <p:cNvSpPr/>
          <p:nvPr/>
        </p:nvSpPr>
        <p:spPr>
          <a:xfrm>
            <a:off x="7543800" y="109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7"/>
          <p:cNvSpPr/>
          <p:nvPr/>
        </p:nvSpPr>
        <p:spPr>
          <a:xfrm>
            <a:off x="7479720" y="1673280"/>
            <a:ext cx="585000" cy="5850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3" descr="preencoded.png"/>
          <p:cNvPicPr/>
          <p:nvPr/>
        </p:nvPicPr>
        <p:blipFill>
          <a:blip r:embed="rId4"/>
          <a:stretch/>
        </p:blipFill>
        <p:spPr>
          <a:xfrm>
            <a:off x="7611480" y="1805040"/>
            <a:ext cx="321480" cy="321480"/>
          </a:xfrm>
          <a:prstGeom prst="rect">
            <a:avLst/>
          </a:prstGeom>
          <a:ln w="0">
            <a:noFill/>
          </a:ln>
        </p:spPr>
      </p:pic>
      <p:sp>
        <p:nvSpPr>
          <p:cNvPr id="196" name="Text 28"/>
          <p:cNvSpPr/>
          <p:nvPr/>
        </p:nvSpPr>
        <p:spPr>
          <a:xfrm>
            <a:off x="6858000" y="2377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mbria"/>
                <a:ea typeface="Cambria"/>
              </a:rPr>
              <a:t>Tally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9"/>
          <p:cNvSpPr/>
          <p:nvPr/>
        </p:nvSpPr>
        <p:spPr>
          <a:xfrm>
            <a:off x="6876360" y="2834640"/>
            <a:ext cx="17917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Results report HTML, overvote report, write-in images, ranked-choice IRV tabulation, and Arlo RLA exports — all written automatically.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30"/>
          <p:cNvSpPr/>
          <p:nvPr/>
        </p:nvSpPr>
        <p:spPr>
          <a:xfrm>
            <a:off x="320040" y="46177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7377"/>
                </a:solidFill>
                <a:latin typeface="Cambria"/>
                <a:ea typeface="Cambria"/>
              </a:rPr>
              <a:t>100%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31"/>
          <p:cNvSpPr/>
          <p:nvPr/>
        </p:nvSpPr>
        <p:spPr>
          <a:xfrm>
            <a:off x="320040" y="490104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Accuracy 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test harness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2"/>
          <p:cNvSpPr/>
          <p:nvPr/>
        </p:nvSpPr>
        <p:spPr>
          <a:xfrm>
            <a:off x="2468880" y="46177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7377"/>
                </a:solidFill>
                <a:latin typeface="Cambria"/>
                <a:ea typeface="Cambria"/>
              </a:rPr>
              <a:t>3,960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3"/>
          <p:cNvSpPr/>
          <p:nvPr/>
        </p:nvSpPr>
        <p:spPr>
          <a:xfrm>
            <a:off x="2468880" y="490104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Test images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15 distortions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4"/>
          <p:cNvSpPr/>
          <p:nvPr/>
        </p:nvSpPr>
        <p:spPr>
          <a:xfrm>
            <a:off x="4617720" y="46177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7377"/>
                </a:solidFill>
                <a:latin typeface="Cambria"/>
                <a:ea typeface="Cambria"/>
              </a:rPr>
              <a:t>Multi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35"/>
          <p:cNvSpPr/>
          <p:nvPr/>
        </p:nvSpPr>
        <p:spPr>
          <a:xfrm>
            <a:off x="4617720" y="490104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Pass scanning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automatically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36"/>
          <p:cNvSpPr/>
          <p:nvPr/>
        </p:nvSpPr>
        <p:spPr>
          <a:xfrm>
            <a:off x="6766560" y="46177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7377"/>
                </a:solidFill>
                <a:latin typeface="Cambria"/>
                <a:ea typeface="Cambria"/>
              </a:rPr>
              <a:t>IRV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37"/>
          <p:cNvSpPr/>
          <p:nvPr/>
        </p:nvSpPr>
        <p:spPr>
          <a:xfrm>
            <a:off x="6766560" y="4901040"/>
            <a:ext cx="2011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Ranked-choice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  <a:ea typeface="Calibri"/>
              </a:rPr>
              <a:t>tabulation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bCounter — Scanning in Progress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Screenshot: live scan progress page at localhost:8081/scan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365760" y="1097280"/>
            <a:ext cx="8412120" cy="37944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548640" y="12344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744"/>
                </a:solidFill>
                <a:latin typeface="Cambria"/>
                <a:ea typeface="Cambria"/>
              </a:rPr>
              <a:t>Scanning…   2,440 / 3,960 images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548640" y="1645920"/>
            <a:ext cx="8046360" cy="2556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548640" y="1645920"/>
            <a:ext cx="4955760" cy="25560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5212080" y="1664280"/>
            <a:ext cx="548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62%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548640" y="201168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Current: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1417320" y="201168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images/Precinct_2/skew_left/ballot_1_2_1_1_1_1__valid_all_filled__skew_left__c02.png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548640" y="2377440"/>
            <a:ext cx="1508400" cy="776880"/>
          </a:xfrm>
          <a:prstGeom prst="roundRect">
            <a:avLst>
              <a:gd name="adj" fmla="val 9412"/>
            </a:avLst>
          </a:prstGeom>
          <a:solidFill>
            <a:srgbClr val="ebf4f8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548640" y="24231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744"/>
                </a:solidFill>
                <a:latin typeface="Cambria"/>
                <a:ea typeface="Cambria"/>
              </a:rPr>
              <a:t>2,440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548640" y="278892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Processed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2176200" y="2377440"/>
            <a:ext cx="1508400" cy="776880"/>
          </a:xfrm>
          <a:prstGeom prst="roundRect">
            <a:avLst>
              <a:gd name="adj" fmla="val 9412"/>
            </a:avLst>
          </a:prstGeom>
          <a:solidFill>
            <a:srgbClr val="ebf4f8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2176200" y="24231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744"/>
                </a:solidFill>
                <a:latin typeface="Cambria"/>
                <a:ea typeface="Cambria"/>
              </a:rPr>
              <a:t>1,520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2176200" y="278892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Remaining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6"/>
          <p:cNvSpPr/>
          <p:nvPr/>
        </p:nvSpPr>
        <p:spPr>
          <a:xfrm>
            <a:off x="3803760" y="2377440"/>
            <a:ext cx="1508400" cy="776880"/>
          </a:xfrm>
          <a:prstGeom prst="roundRect">
            <a:avLst>
              <a:gd name="adj" fmla="val 9412"/>
            </a:avLst>
          </a:prstGeom>
          <a:solidFill>
            <a:srgbClr val="ebf4f8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3803760" y="24231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744"/>
                </a:solidFill>
                <a:latin typeface="Cambria"/>
                <a:ea typeface="Cambria"/>
              </a:rPr>
              <a:t>18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3803760" y="278892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Overvotes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9"/>
          <p:cNvSpPr/>
          <p:nvPr/>
        </p:nvSpPr>
        <p:spPr>
          <a:xfrm>
            <a:off x="5431680" y="2377440"/>
            <a:ext cx="1508400" cy="776880"/>
          </a:xfrm>
          <a:prstGeom prst="roundRect">
            <a:avLst>
              <a:gd name="adj" fmla="val 9412"/>
            </a:avLst>
          </a:prstGeom>
          <a:solidFill>
            <a:srgbClr val="ebf4f8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0"/>
          <p:cNvSpPr/>
          <p:nvPr/>
        </p:nvSpPr>
        <p:spPr>
          <a:xfrm>
            <a:off x="5431680" y="24231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744"/>
                </a:solidFill>
                <a:latin typeface="Cambria"/>
                <a:ea typeface="Cambria"/>
              </a:rPr>
              <a:t>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1"/>
          <p:cNvSpPr/>
          <p:nvPr/>
        </p:nvSpPr>
        <p:spPr>
          <a:xfrm>
            <a:off x="5431680" y="278892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For Review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22"/>
          <p:cNvSpPr/>
          <p:nvPr/>
        </p:nvSpPr>
        <p:spPr>
          <a:xfrm>
            <a:off x="7059240" y="2377440"/>
            <a:ext cx="1508400" cy="776880"/>
          </a:xfrm>
          <a:prstGeom prst="roundRect">
            <a:avLst>
              <a:gd name="adj" fmla="val 9412"/>
            </a:avLst>
          </a:prstGeom>
          <a:solidFill>
            <a:srgbClr val="ebf4f8"/>
          </a:solidFill>
          <a:ln w="63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7059240" y="24231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a2744"/>
                </a:solidFill>
                <a:latin typeface="Cambria"/>
                <a:ea typeface="Cambria"/>
              </a:rPr>
              <a:t>1 of 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7059240" y="2788920"/>
            <a:ext cx="1508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Pass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548640" y="333756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6"/>
          <p:cNvSpPr/>
          <p:nvPr/>
        </p:nvSpPr>
        <p:spPr>
          <a:xfrm>
            <a:off x="548640" y="336492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⏹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Stop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7"/>
          <p:cNvSpPr/>
          <p:nvPr/>
        </p:nvSpPr>
        <p:spPr>
          <a:xfrm>
            <a:off x="2194560" y="333756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2194560" y="336492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📋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Results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9"/>
          <p:cNvSpPr/>
          <p:nvPr/>
        </p:nvSpPr>
        <p:spPr>
          <a:xfrm>
            <a:off x="3840480" y="3337560"/>
            <a:ext cx="1554120" cy="383760"/>
          </a:xfrm>
          <a:prstGeom prst="roundRect">
            <a:avLst>
              <a:gd name="adj" fmla="val 16667"/>
            </a:avLst>
          </a:prstGeom>
          <a:solidFill>
            <a:srgbClr val="5b21b6"/>
          </a:solidFill>
          <a:ln w="12700">
            <a:solidFill>
              <a:srgbClr val="5b21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3840480" y="3364920"/>
            <a:ext cx="15541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🔍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View Scanned Ballots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1"/>
          <p:cNvSpPr/>
          <p:nvPr/>
        </p:nvSpPr>
        <p:spPr>
          <a:xfrm>
            <a:off x="365760" y="475488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✦  </a:t>
            </a: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Screenshot placeholder — replace with live bCounter scanning page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bViewer — Ballot Image Review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localhost:8082  ·  Embedded in bCounter — no separate process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365760" y="11887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mbria"/>
                <a:ea typeface="Cambria"/>
              </a:rPr>
              <a:t>Colour-coded vote overlays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365760" y="1645920"/>
            <a:ext cx="255600" cy="2556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713160" y="160020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Green  = VOTED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365760" y="2148840"/>
            <a:ext cx="255600" cy="25560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713160" y="210312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Yellow  = OVERVOTED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365760" y="2651760"/>
            <a:ext cx="255600" cy="2556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713160" y="260604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Blue  = UNMARKED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365760" y="274320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mbria"/>
                <a:ea typeface="Cambria"/>
              </a:rPr>
              <a:t>Features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365760" y="312732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a34a"/>
                </a:solidFill>
                <a:latin typeface="Calibri"/>
                <a:ea typeface="Calibri"/>
              </a:rPr>
              <a:t>✓ </a:t>
            </a:r>
            <a:r>
              <a:rPr b="1" lang="en-US" sz="1300" spc="-1" strike="noStrike">
                <a:solidFill>
                  <a:srgbClr val="16a34a"/>
                </a:solidFill>
                <a:latin typeface="Calibri"/>
                <a:ea typeface="Calibri"/>
              </a:rPr>
              <a:t>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Navigate ballots with Prev/Next or keyboard arrows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2"/>
          <p:cNvSpPr/>
          <p:nvPr/>
        </p:nvSpPr>
        <p:spPr>
          <a:xfrm>
            <a:off x="365760" y="342900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a34a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Jump to any ballot by ID or filename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13"/>
          <p:cNvSpPr/>
          <p:nvPr/>
        </p:nvSpPr>
        <p:spPr>
          <a:xfrm>
            <a:off x="365760" y="37306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a34a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Show/hide overlay boxes and/or candidate names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4"/>
          <p:cNvSpPr/>
          <p:nvPr/>
        </p:nvSpPr>
        <p:spPr>
          <a:xfrm>
            <a:off x="365760" y="403236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a34a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Images served live from disk — during and after scanning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6"/>
          <p:cNvSpPr/>
          <p:nvPr/>
        </p:nvSpPr>
        <p:spPr>
          <a:xfrm>
            <a:off x="365760" y="43840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a34a"/>
                </a:solidFill>
                <a:latin typeface="Calibri"/>
                <a:ea typeface="Calibri"/>
              </a:rPr>
              <a:t>✓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Separate credentials from bCounter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    </a:t>
            </a: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(viewer.username / viewer.password)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7"/>
          <p:cNvSpPr/>
          <p:nvPr/>
        </p:nvSpPr>
        <p:spPr>
          <a:xfrm>
            <a:off x="4754880" y="1097280"/>
            <a:ext cx="4023000" cy="3794400"/>
          </a:xfrm>
          <a:prstGeom prst="roundRect">
            <a:avLst>
              <a:gd name="adj" fmla="val 1928"/>
            </a:avLst>
          </a:prstGeom>
          <a:solidFill>
            <a:srgbClr val="1e293b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4846320" y="11703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🔍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Ballot Viewer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9"/>
          <p:cNvSpPr/>
          <p:nvPr/>
        </p:nvSpPr>
        <p:spPr>
          <a:xfrm>
            <a:off x="4846320" y="15087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fa8c8"/>
                </a:solidFill>
                <a:latin typeface="Calibri"/>
                <a:ea typeface="Calibri"/>
              </a:rPr>
              <a:t>← </a:t>
            </a:r>
            <a:r>
              <a:rPr b="0" lang="en-US" sz="900" spc="-1" strike="noStrike">
                <a:solidFill>
                  <a:srgbClr val="7fa8c8"/>
                </a:solidFill>
                <a:latin typeface="Calibri"/>
                <a:ea typeface="Calibri"/>
              </a:rPr>
              <a:t>All Ballots    ← Prev   3 of 924   Next →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4846320" y="1828800"/>
            <a:ext cx="3657240" cy="24685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21"/>
          <p:cNvSpPr/>
          <p:nvPr/>
        </p:nvSpPr>
        <p:spPr>
          <a:xfrm>
            <a:off x="4846320" y="28346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bd5e1"/>
                </a:solidFill>
                <a:latin typeface="Calibri"/>
                <a:ea typeface="Calibri"/>
              </a:rPr>
              <a:t>[ Ballot Image ]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2"/>
          <p:cNvSpPr/>
          <p:nvPr/>
        </p:nvSpPr>
        <p:spPr>
          <a:xfrm>
            <a:off x="5120640" y="1965960"/>
            <a:ext cx="456840" cy="20088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3"/>
          <p:cNvSpPr/>
          <p:nvPr/>
        </p:nvSpPr>
        <p:spPr>
          <a:xfrm>
            <a:off x="5120640" y="2286000"/>
            <a:ext cx="456840" cy="20088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4"/>
          <p:cNvSpPr/>
          <p:nvPr/>
        </p:nvSpPr>
        <p:spPr>
          <a:xfrm>
            <a:off x="5120640" y="2606040"/>
            <a:ext cx="456840" cy="200880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5"/>
          <p:cNvSpPr/>
          <p:nvPr/>
        </p:nvSpPr>
        <p:spPr>
          <a:xfrm>
            <a:off x="6766560" y="2011680"/>
            <a:ext cx="456840" cy="200880"/>
          </a:xfrm>
          <a:prstGeom prst="rect">
            <a:avLst/>
          </a:prstGeom>
          <a:solidFill>
            <a:srgbClr val="eab308">
              <a:alpha val="40000"/>
            </a:srgbClr>
          </a:solidFill>
          <a:ln w="12700">
            <a:solidFill>
              <a:srgbClr val="eab30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6"/>
          <p:cNvSpPr/>
          <p:nvPr/>
        </p:nvSpPr>
        <p:spPr>
          <a:xfrm>
            <a:off x="6766560" y="2331720"/>
            <a:ext cx="456840" cy="20088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bViewer — Ballot Detail View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Screenshot: single ballot with vote indicator overlays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365760" y="1097280"/>
            <a:ext cx="8412120" cy="3794400"/>
          </a:xfrm>
          <a:prstGeom prst="roundRect">
            <a:avLst>
              <a:gd name="adj" fmla="val 1928"/>
            </a:avLst>
          </a:prstGeom>
          <a:solidFill>
            <a:srgbClr val="111827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1097280" y="2286000"/>
            <a:ext cx="6949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b7280"/>
                </a:solidFill>
                <a:latin typeface="Calibri"/>
                <a:ea typeface="Calibri"/>
              </a:rPr>
              <a:t>Replace with a screenshot of bViewer showing a scanned ballot image with coloured overlay boxes drawn over the vote indicators.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1097280" y="356616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b5563"/>
                </a:solidFill>
                <a:latin typeface="Calibri"/>
                <a:ea typeface="Calibri"/>
              </a:rPr>
              <a:t>The overlay should show green boxes over marked indicators, blue boxes over blank indicators,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b5563"/>
                </a:solidFill>
                <a:latin typeface="Calibri"/>
                <a:ea typeface="Calibri"/>
              </a:rPr>
              <a:t>and yellow boxes over any overvoted contest.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365760" y="4800600"/>
            <a:ext cx="8412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✦  </a:t>
            </a:r>
            <a:r>
              <a:rPr b="0" i="1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Screenshot placeholder — navigate to localhost:8082/viewer/view?id=N after a scan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Results &amp; Reporting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Automatic report generation at end of scan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320040" y="1188720"/>
            <a:ext cx="4114440" cy="111528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411480" y="1298520"/>
            <a:ext cx="475200" cy="475200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Image 0" descr="preencoded.png"/>
          <p:cNvPicPr/>
          <p:nvPr/>
        </p:nvPicPr>
        <p:blipFill>
          <a:blip r:embed="rId1"/>
          <a:stretch/>
        </p:blipFill>
        <p:spPr>
          <a:xfrm>
            <a:off x="518400" y="140544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277" name="Text 5"/>
          <p:cNvSpPr/>
          <p:nvPr/>
        </p:nvSpPr>
        <p:spPr>
          <a:xfrm>
            <a:off x="1005840" y="1261800"/>
            <a:ext cx="330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results_report.html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1005840" y="1536120"/>
            <a:ext cx="330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When: Every 500 images + scan end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7"/>
          <p:cNvSpPr/>
          <p:nvPr/>
        </p:nvSpPr>
        <p:spPr>
          <a:xfrm>
            <a:off x="429840" y="176472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Printable vote totals by contest, with overvote indicators. Updated live during scanning.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4663440" y="1188720"/>
            <a:ext cx="4114440" cy="111528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4754880" y="1298520"/>
            <a:ext cx="475200" cy="475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2" name="Image 1" descr="preencoded.png"/>
          <p:cNvPicPr/>
          <p:nvPr/>
        </p:nvPicPr>
        <p:blipFill>
          <a:blip r:embed="rId2"/>
          <a:stretch/>
        </p:blipFill>
        <p:spPr>
          <a:xfrm>
            <a:off x="4861800" y="140544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283" name="Text 10"/>
          <p:cNvSpPr/>
          <p:nvPr/>
        </p:nvSpPr>
        <p:spPr>
          <a:xfrm>
            <a:off x="5349240" y="1261800"/>
            <a:ext cx="330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rcv_report.html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11"/>
          <p:cNvSpPr/>
          <p:nvPr/>
        </p:nvSpPr>
        <p:spPr>
          <a:xfrm>
            <a:off x="5349240" y="1536120"/>
            <a:ext cx="330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When: Scan end (ranked-choice only)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12"/>
          <p:cNvSpPr/>
          <p:nvPr/>
        </p:nvSpPr>
        <p:spPr>
          <a:xfrm>
            <a:off x="4773240" y="176472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Round-by-round IRV tabulation. Shows each elimination round and how rank-2 votes transfer until a candidate achieves a majority.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13"/>
          <p:cNvSpPr/>
          <p:nvPr/>
        </p:nvSpPr>
        <p:spPr>
          <a:xfrm>
            <a:off x="320040" y="2450520"/>
            <a:ext cx="4114440" cy="111528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14"/>
          <p:cNvSpPr/>
          <p:nvPr/>
        </p:nvSpPr>
        <p:spPr>
          <a:xfrm>
            <a:off x="411480" y="2560320"/>
            <a:ext cx="475200" cy="475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8" name="Image 2" descr="preencoded.png"/>
          <p:cNvPicPr/>
          <p:nvPr/>
        </p:nvPicPr>
        <p:blipFill>
          <a:blip r:embed="rId3"/>
          <a:stretch/>
        </p:blipFill>
        <p:spPr>
          <a:xfrm>
            <a:off x="518400" y="266724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289" name="Text 15"/>
          <p:cNvSpPr/>
          <p:nvPr/>
        </p:nvSpPr>
        <p:spPr>
          <a:xfrm>
            <a:off x="1005840" y="2523600"/>
            <a:ext cx="330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ballot_manifest.csv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16"/>
          <p:cNvSpPr/>
          <p:nvPr/>
        </p:nvSpPr>
        <p:spPr>
          <a:xfrm>
            <a:off x="1005840" y="2797920"/>
            <a:ext cx="330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When: Scan end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7"/>
          <p:cNvSpPr/>
          <p:nvPr/>
        </p:nvSpPr>
        <p:spPr>
          <a:xfrm>
            <a:off x="429840" y="302652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Arlo RLA input: batch-level ballot counts grouped by jurisdiction and region.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8"/>
          <p:cNvSpPr/>
          <p:nvPr/>
        </p:nvSpPr>
        <p:spPr>
          <a:xfrm>
            <a:off x="4663440" y="2450520"/>
            <a:ext cx="4114440" cy="111528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9"/>
          <p:cNvSpPr/>
          <p:nvPr/>
        </p:nvSpPr>
        <p:spPr>
          <a:xfrm>
            <a:off x="4754880" y="2560320"/>
            <a:ext cx="475200" cy="475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Image 3" descr="preencoded.png"/>
          <p:cNvPicPr/>
          <p:nvPr/>
        </p:nvPicPr>
        <p:blipFill>
          <a:blip r:embed="rId4"/>
          <a:stretch/>
        </p:blipFill>
        <p:spPr>
          <a:xfrm>
            <a:off x="4861800" y="266724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295" name="Text 20"/>
          <p:cNvSpPr/>
          <p:nvPr/>
        </p:nvSpPr>
        <p:spPr>
          <a:xfrm>
            <a:off x="5349240" y="2523600"/>
            <a:ext cx="330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cvr_export.csv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1"/>
          <p:cNvSpPr/>
          <p:nvPr/>
        </p:nvSpPr>
        <p:spPr>
          <a:xfrm>
            <a:off x="5349240" y="2797920"/>
            <a:ext cx="330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When: Scan end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2"/>
          <p:cNvSpPr/>
          <p:nvPr/>
        </p:nvSpPr>
        <p:spPr>
          <a:xfrm>
            <a:off x="4773240" y="302652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Arlo RLA input: Cast Vote Record with one row per physical ballot, one column per contest.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23"/>
          <p:cNvSpPr/>
          <p:nvPr/>
        </p:nvSpPr>
        <p:spPr>
          <a:xfrm>
            <a:off x="320040" y="3712320"/>
            <a:ext cx="4114440" cy="111528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24"/>
          <p:cNvSpPr/>
          <p:nvPr/>
        </p:nvSpPr>
        <p:spPr>
          <a:xfrm>
            <a:off x="411480" y="3822120"/>
            <a:ext cx="475200" cy="475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Image 4" descr="preencoded.png"/>
          <p:cNvPicPr/>
          <p:nvPr/>
        </p:nvPicPr>
        <p:blipFill>
          <a:blip r:embed="rId5"/>
          <a:stretch/>
        </p:blipFill>
        <p:spPr>
          <a:xfrm>
            <a:off x="518400" y="392904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301" name="Text 25"/>
          <p:cNvSpPr/>
          <p:nvPr/>
        </p:nvSpPr>
        <p:spPr>
          <a:xfrm>
            <a:off x="1005840" y="3785760"/>
            <a:ext cx="330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overvote_report.txt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1005840" y="4060080"/>
            <a:ext cx="330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When: Scan end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7"/>
          <p:cNvSpPr/>
          <p:nvPr/>
        </p:nvSpPr>
        <p:spPr>
          <a:xfrm>
            <a:off x="429840" y="428868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List of every ballot/contest pair where more candidates were marked than allowed.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28"/>
          <p:cNvSpPr/>
          <p:nvPr/>
        </p:nvSpPr>
        <p:spPr>
          <a:xfrm>
            <a:off x="4663440" y="3712320"/>
            <a:ext cx="4114440" cy="111528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9"/>
          <p:cNvSpPr/>
          <p:nvPr/>
        </p:nvSpPr>
        <p:spPr>
          <a:xfrm>
            <a:off x="4754880" y="3822120"/>
            <a:ext cx="475200" cy="4752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Image 5" descr="preencoded.png"/>
          <p:cNvPicPr/>
          <p:nvPr/>
        </p:nvPicPr>
        <p:blipFill>
          <a:blip r:embed="rId6"/>
          <a:stretch/>
        </p:blipFill>
        <p:spPr>
          <a:xfrm>
            <a:off x="4861800" y="3929040"/>
            <a:ext cx="261000" cy="261000"/>
          </a:xfrm>
          <a:prstGeom prst="rect">
            <a:avLst/>
          </a:prstGeom>
          <a:ln w="0">
            <a:noFill/>
          </a:ln>
        </p:spPr>
      </p:pic>
      <p:sp>
        <p:nvSpPr>
          <p:cNvPr id="307" name="Text 30"/>
          <p:cNvSpPr/>
          <p:nvPr/>
        </p:nvSpPr>
        <p:spPr>
          <a:xfrm>
            <a:off x="5349240" y="3785760"/>
            <a:ext cx="330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vote_summary.yaml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31"/>
          <p:cNvSpPr/>
          <p:nvPr/>
        </p:nvSpPr>
        <p:spPr>
          <a:xfrm>
            <a:off x="5349240" y="4060080"/>
            <a:ext cx="3309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94a3b8"/>
                </a:solidFill>
                <a:latin typeface="Calibri"/>
                <a:ea typeface="Calibri"/>
              </a:rPr>
              <a:t>When: Scan end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2"/>
          <p:cNvSpPr/>
          <p:nvPr/>
        </p:nvSpPr>
        <p:spPr>
          <a:xfrm>
            <a:off x="4773240" y="4288680"/>
            <a:ext cx="38858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Machine-readable structured totals for import into other systems.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Ranked-Choice Voting (IRV)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Full instant-runoff tabulation with round-by-round reporting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365760" y="11887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744"/>
                </a:solidFill>
                <a:latin typeface="Cambria"/>
                <a:ea typeface="Cambria"/>
              </a:rPr>
              <a:t>How it works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4"/>
          <p:cNvSpPr/>
          <p:nvPr/>
        </p:nvSpPr>
        <p:spPr>
          <a:xfrm>
            <a:off x="365760" y="1627560"/>
            <a:ext cx="237240" cy="237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365760" y="16275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685800" y="160920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Voters rank candidates 1st, 2nd, 3rd… using the rank boxes on the ballot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7"/>
          <p:cNvSpPr/>
          <p:nvPr/>
        </p:nvSpPr>
        <p:spPr>
          <a:xfrm>
            <a:off x="365760" y="2103120"/>
            <a:ext cx="237240" cy="237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8"/>
          <p:cNvSpPr/>
          <p:nvPr/>
        </p:nvSpPr>
        <p:spPr>
          <a:xfrm>
            <a:off x="365760" y="210312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9"/>
          <p:cNvSpPr/>
          <p:nvPr/>
        </p:nvSpPr>
        <p:spPr>
          <a:xfrm>
            <a:off x="685800" y="208476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bCounter detects which rank box is filled for each candidate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0"/>
          <p:cNvSpPr/>
          <p:nvPr/>
        </p:nvSpPr>
        <p:spPr>
          <a:xfrm>
            <a:off x="365760" y="2578680"/>
            <a:ext cx="237240" cy="237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11"/>
          <p:cNvSpPr/>
          <p:nvPr/>
        </p:nvSpPr>
        <p:spPr>
          <a:xfrm>
            <a:off x="365760" y="25786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685800" y="256032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After scanning, IRV tabulation counts rank-1 votes per candidate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3"/>
          <p:cNvSpPr/>
          <p:nvPr/>
        </p:nvSpPr>
        <p:spPr>
          <a:xfrm>
            <a:off x="365760" y="3054240"/>
            <a:ext cx="237240" cy="237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14"/>
          <p:cNvSpPr/>
          <p:nvPr/>
        </p:nvSpPr>
        <p:spPr>
          <a:xfrm>
            <a:off x="365760" y="305424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15"/>
          <p:cNvSpPr/>
          <p:nvPr/>
        </p:nvSpPr>
        <p:spPr>
          <a:xfrm>
            <a:off x="685800" y="303588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The candidate with the fewest rank-1 votes is eliminated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16"/>
          <p:cNvSpPr/>
          <p:nvPr/>
        </p:nvSpPr>
        <p:spPr>
          <a:xfrm>
            <a:off x="365760" y="3529440"/>
            <a:ext cx="237240" cy="237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7"/>
          <p:cNvSpPr/>
          <p:nvPr/>
        </p:nvSpPr>
        <p:spPr>
          <a:xfrm>
            <a:off x="365760" y="352944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8"/>
          <p:cNvSpPr/>
          <p:nvPr/>
        </p:nvSpPr>
        <p:spPr>
          <a:xfrm>
            <a:off x="685800" y="351144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Eliminated ballots transfer to their next surviving ranked choice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9"/>
          <p:cNvSpPr/>
          <p:nvPr/>
        </p:nvSpPr>
        <p:spPr>
          <a:xfrm>
            <a:off x="365760" y="4005000"/>
            <a:ext cx="237240" cy="237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 20"/>
          <p:cNvSpPr/>
          <p:nvPr/>
        </p:nvSpPr>
        <p:spPr>
          <a:xfrm>
            <a:off x="365760" y="40050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21"/>
          <p:cNvSpPr/>
          <p:nvPr/>
        </p:nvSpPr>
        <p:spPr>
          <a:xfrm>
            <a:off x="685800" y="3986640"/>
            <a:ext cx="3748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Rounds repeat until one candidate exceeds 50% of active ballots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22"/>
          <p:cNvSpPr/>
          <p:nvPr/>
        </p:nvSpPr>
        <p:spPr>
          <a:xfrm>
            <a:off x="4709160" y="1143000"/>
            <a:ext cx="4068720" cy="37486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23"/>
          <p:cNvSpPr/>
          <p:nvPr/>
        </p:nvSpPr>
        <p:spPr>
          <a:xfrm>
            <a:off x="4800600" y="1207080"/>
            <a:ext cx="3885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Sample Tabulation — President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4"/>
          <p:cNvSpPr/>
          <p:nvPr/>
        </p:nvSpPr>
        <p:spPr>
          <a:xfrm>
            <a:off x="4800600" y="1572840"/>
            <a:ext cx="3885840" cy="255600"/>
          </a:xfrm>
          <a:prstGeom prst="rect">
            <a:avLst/>
          </a:prstGeom>
          <a:solidFill>
            <a:srgbClr val="ebf4ff"/>
          </a:solidFill>
          <a:ln w="12700">
            <a:solidFill>
              <a:srgbClr val="eb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25"/>
          <p:cNvSpPr/>
          <p:nvPr/>
        </p:nvSpPr>
        <p:spPr>
          <a:xfrm>
            <a:off x="4892040" y="1591200"/>
            <a:ext cx="3702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a2744"/>
                </a:solidFill>
                <a:latin typeface="Calibri"/>
                <a:ea typeface="Calibri"/>
              </a:rPr>
              <a:t>Round 1 of 2  ·  active: 360  ·  majority: 181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26"/>
          <p:cNvSpPr/>
          <p:nvPr/>
        </p:nvSpPr>
        <p:spPr>
          <a:xfrm>
            <a:off x="4892040" y="19202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Benjamin Adams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27"/>
          <p:cNvSpPr/>
          <p:nvPr/>
        </p:nvSpPr>
        <p:spPr>
          <a:xfrm>
            <a:off x="4892040" y="2194560"/>
            <a:ext cx="3492720" cy="10944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28"/>
          <p:cNvSpPr/>
          <p:nvPr/>
        </p:nvSpPr>
        <p:spPr>
          <a:xfrm>
            <a:off x="7863840" y="192024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180  50.0%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29"/>
          <p:cNvSpPr/>
          <p:nvPr/>
        </p:nvSpPr>
        <p:spPr>
          <a:xfrm>
            <a:off x="4892040" y="239580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Alexandria Washington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30"/>
          <p:cNvSpPr/>
          <p:nvPr/>
        </p:nvSpPr>
        <p:spPr>
          <a:xfrm>
            <a:off x="4892040" y="2670120"/>
            <a:ext cx="2441160" cy="109440"/>
          </a:xfrm>
          <a:prstGeom prst="roundRect">
            <a:avLst>
              <a:gd name="adj" fmla="val 25000"/>
            </a:avLst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31"/>
          <p:cNvSpPr/>
          <p:nvPr/>
        </p:nvSpPr>
        <p:spPr>
          <a:xfrm>
            <a:off x="7863840" y="239580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126  35.0%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2"/>
          <p:cNvSpPr/>
          <p:nvPr/>
        </p:nvSpPr>
        <p:spPr>
          <a:xfrm>
            <a:off x="4800600" y="2834640"/>
            <a:ext cx="3885840" cy="438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33"/>
          <p:cNvSpPr/>
          <p:nvPr/>
        </p:nvSpPr>
        <p:spPr>
          <a:xfrm>
            <a:off x="4892040" y="287136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2400e"/>
                </a:solidFill>
                <a:latin typeface="Calibri"/>
                <a:ea typeface="Calibri"/>
              </a:rPr>
              <a:t>Carolina Jefferson  ✗ eliminated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4"/>
          <p:cNvSpPr/>
          <p:nvPr/>
        </p:nvSpPr>
        <p:spPr>
          <a:xfrm>
            <a:off x="4892040" y="3145680"/>
            <a:ext cx="1042200" cy="10944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35"/>
          <p:cNvSpPr/>
          <p:nvPr/>
        </p:nvSpPr>
        <p:spPr>
          <a:xfrm>
            <a:off x="7863840" y="2871360"/>
            <a:ext cx="822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54  15.0%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36"/>
          <p:cNvSpPr/>
          <p:nvPr/>
        </p:nvSpPr>
        <p:spPr>
          <a:xfrm>
            <a:off x="4800600" y="34016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d7377"/>
                </a:solidFill>
                <a:latin typeface="Calibri"/>
                <a:ea typeface="Calibri"/>
              </a:rPr>
              <a:t>↓  </a:t>
            </a:r>
            <a:r>
              <a:rPr b="0" i="1" lang="en-US" sz="900" spc="-1" strike="noStrike">
                <a:solidFill>
                  <a:srgbClr val="0d7377"/>
                </a:solidFill>
                <a:latin typeface="Calibri"/>
                <a:ea typeface="Calibri"/>
              </a:rPr>
              <a:t>Carolina's 54 votes transfer to Alexandria (Rank 2)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37"/>
          <p:cNvSpPr/>
          <p:nvPr/>
        </p:nvSpPr>
        <p:spPr>
          <a:xfrm>
            <a:off x="4800600" y="3730680"/>
            <a:ext cx="3885840" cy="2556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38"/>
          <p:cNvSpPr/>
          <p:nvPr/>
        </p:nvSpPr>
        <p:spPr>
          <a:xfrm>
            <a:off x="4892040" y="3749040"/>
            <a:ext cx="3702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166534"/>
                </a:solidFill>
                <a:latin typeface="Calibri"/>
                <a:ea typeface="Calibri"/>
              </a:rPr>
              <a:t>Round 2  ·  WINNER: Alexandria Washington  ✓  (180 votes, 50.0%→ 50%+ with 54 transfers)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Multi-language Ballot Support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Same barcodes · Same YAML · Same scanning pipeline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3"/>
          <p:cNvSpPr/>
          <p:nvPr/>
        </p:nvSpPr>
        <p:spPr>
          <a:xfrm>
            <a:off x="365760" y="1143000"/>
            <a:ext cx="8412120" cy="502560"/>
          </a:xfrm>
          <a:prstGeom prst="roundRect">
            <a:avLst>
              <a:gd name="adj" fmla="val 14545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548640" y="120708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744"/>
                </a:solidFill>
                <a:latin typeface="Calibri"/>
                <a:ea typeface="Calibri"/>
              </a:rPr>
              <a:t>Translated ballots share the same indicator positions as English ballots. bCounter scans all languages identically — no separate count by language.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5"/>
          <p:cNvSpPr/>
          <p:nvPr/>
        </p:nvSpPr>
        <p:spPr>
          <a:xfrm>
            <a:off x="365760" y="1783080"/>
            <a:ext cx="402300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6"/>
          <p:cNvSpPr/>
          <p:nvPr/>
        </p:nvSpPr>
        <p:spPr>
          <a:xfrm>
            <a:off x="502920" y="18378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Setup → Languages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7"/>
          <p:cNvSpPr/>
          <p:nvPr/>
        </p:nvSpPr>
        <p:spPr>
          <a:xfrm>
            <a:off x="502920" y="21121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Add language codes (e.g. 'es', 'zh') and display names per jurisdiction.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8"/>
          <p:cNvSpPr/>
          <p:nvPr/>
        </p:nvSpPr>
        <p:spPr>
          <a:xfrm>
            <a:off x="365760" y="2560320"/>
            <a:ext cx="402300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9"/>
          <p:cNvSpPr/>
          <p:nvPr/>
        </p:nvSpPr>
        <p:spPr>
          <a:xfrm>
            <a:off x="502920" y="26150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Translate contests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10"/>
          <p:cNvSpPr/>
          <p:nvPr/>
        </p:nvSpPr>
        <p:spPr>
          <a:xfrm>
            <a:off x="502920" y="28893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Click Translate on any contest to enter title, instructions, preamble, and postamble in each language.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1"/>
          <p:cNvSpPr/>
          <p:nvPr/>
        </p:nvSpPr>
        <p:spPr>
          <a:xfrm>
            <a:off x="365760" y="3337560"/>
            <a:ext cx="402300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12"/>
          <p:cNvSpPr/>
          <p:nvPr/>
        </p:nvSpPr>
        <p:spPr>
          <a:xfrm>
            <a:off x="502920" y="33922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Translate candidates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3"/>
          <p:cNvSpPr/>
          <p:nvPr/>
        </p:nvSpPr>
        <p:spPr>
          <a:xfrm>
            <a:off x="502920" y="36666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Candidate names and explanatory text can be translated independently.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4"/>
          <p:cNvSpPr/>
          <p:nvPr/>
        </p:nvSpPr>
        <p:spPr>
          <a:xfrm>
            <a:off x="365760" y="4114800"/>
            <a:ext cx="4023000" cy="68544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5"/>
          <p:cNvSpPr/>
          <p:nvPr/>
        </p:nvSpPr>
        <p:spPr>
          <a:xfrm>
            <a:off x="502920" y="41695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Print by language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16"/>
          <p:cNvSpPr/>
          <p:nvPr/>
        </p:nvSpPr>
        <p:spPr>
          <a:xfrm>
            <a:off x="502920" y="44438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Select language from dropdown on Print Ballot page. Generates a separate PDF for each language.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7"/>
          <p:cNvSpPr/>
          <p:nvPr/>
        </p:nvSpPr>
        <p:spPr>
          <a:xfrm>
            <a:off x="4572000" y="1783080"/>
            <a:ext cx="4205880" cy="13712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18"/>
          <p:cNvSpPr/>
          <p:nvPr/>
        </p:nvSpPr>
        <p:spPr>
          <a:xfrm>
            <a:off x="4663440" y="182880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744"/>
                </a:solidFill>
                <a:latin typeface="Cambria"/>
                <a:ea typeface="Cambria"/>
              </a:rPr>
              <a:t>Included languages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19"/>
          <p:cNvSpPr/>
          <p:nvPr/>
        </p:nvSpPr>
        <p:spPr>
          <a:xfrm>
            <a:off x="4663440" y="219456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7377"/>
                </a:solidFill>
                <a:latin typeface="Cambria"/>
                <a:ea typeface="Cambria"/>
              </a:rPr>
              <a:t>EN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0"/>
          <p:cNvSpPr/>
          <p:nvPr/>
        </p:nvSpPr>
        <p:spPr>
          <a:xfrm>
            <a:off x="5120640" y="219456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English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21"/>
          <p:cNvSpPr/>
          <p:nvPr/>
        </p:nvSpPr>
        <p:spPr>
          <a:xfrm>
            <a:off x="6629400" y="21945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4a3b8"/>
                </a:solidFill>
                <a:latin typeface="Courier New"/>
                <a:ea typeface="Courier New"/>
              </a:rPr>
              <a:t>ballot_en.properties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22"/>
          <p:cNvSpPr/>
          <p:nvPr/>
        </p:nvSpPr>
        <p:spPr>
          <a:xfrm>
            <a:off x="4663440" y="251460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7377"/>
                </a:solidFill>
                <a:latin typeface="Cambria"/>
                <a:ea typeface="Cambria"/>
              </a:rPr>
              <a:t>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23"/>
          <p:cNvSpPr/>
          <p:nvPr/>
        </p:nvSpPr>
        <p:spPr>
          <a:xfrm>
            <a:off x="5120640" y="251460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Español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4"/>
          <p:cNvSpPr/>
          <p:nvPr/>
        </p:nvSpPr>
        <p:spPr>
          <a:xfrm>
            <a:off x="6629400" y="251460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4a3b8"/>
                </a:solidFill>
                <a:latin typeface="Courier New"/>
                <a:ea typeface="Courier New"/>
              </a:rPr>
              <a:t>ballot_es.properties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25"/>
          <p:cNvSpPr/>
          <p:nvPr/>
        </p:nvSpPr>
        <p:spPr>
          <a:xfrm>
            <a:off x="4663440" y="2834640"/>
            <a:ext cx="411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7377"/>
                </a:solidFill>
                <a:latin typeface="Cambria"/>
                <a:ea typeface="Cambria"/>
              </a:rPr>
              <a:t>ZH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6"/>
          <p:cNvSpPr/>
          <p:nvPr/>
        </p:nvSpPr>
        <p:spPr>
          <a:xfrm>
            <a:off x="5120640" y="28346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zh-CN" sz="1000" spc="-1" strike="noStrike">
                <a:solidFill>
                  <a:srgbClr val="475569"/>
                </a:solidFill>
                <a:latin typeface="Calibri"/>
                <a:ea typeface="Calibri"/>
              </a:rPr>
              <a:t>中文 </a:t>
            </a: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(Simplified)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27"/>
          <p:cNvSpPr/>
          <p:nvPr/>
        </p:nvSpPr>
        <p:spPr>
          <a:xfrm>
            <a:off x="6629400" y="283464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4a3b8"/>
                </a:solidFill>
                <a:latin typeface="Courier New"/>
                <a:ea typeface="Courier New"/>
              </a:rPr>
              <a:t>ballot_zh.properties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8"/>
          <p:cNvSpPr/>
          <p:nvPr/>
        </p:nvSpPr>
        <p:spPr>
          <a:xfrm>
            <a:off x="4572000" y="3291840"/>
            <a:ext cx="4205880" cy="159984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29"/>
          <p:cNvSpPr/>
          <p:nvPr/>
        </p:nvSpPr>
        <p:spPr>
          <a:xfrm>
            <a:off x="4663440" y="33559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# Add a new language — no code changes needed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30"/>
          <p:cNvSpPr/>
          <p:nvPr/>
        </p:nvSpPr>
        <p:spPr>
          <a:xfrm>
            <a:off x="4663440" y="36118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fa8c8"/>
                </a:solidFill>
                <a:latin typeface="Courier New"/>
                <a:ea typeface="Courier New"/>
              </a:rPr>
              <a:t># src/main/resources/i18n/ballot_tl.properties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31"/>
          <p:cNvSpPr/>
          <p:nvPr/>
        </p:nvSpPr>
        <p:spPr>
          <a:xfrm>
            <a:off x="4663440" y="39045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3e635"/>
                </a:solidFill>
                <a:latin typeface="Courier New"/>
                <a:ea typeface="Courier New"/>
              </a:rPr>
              <a:t>write.in=Isulat ang kandidato: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32"/>
          <p:cNvSpPr/>
          <p:nvPr/>
        </p:nvSpPr>
        <p:spPr>
          <a:xfrm>
            <a:off x="4663440" y="41972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3e635"/>
                </a:solidFill>
                <a:latin typeface="Courier New"/>
                <a:ea typeface="Courier New"/>
              </a:rPr>
              <a:t>vote.for.one=Bumoto para sa isa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33"/>
          <p:cNvSpPr/>
          <p:nvPr/>
        </p:nvSpPr>
        <p:spPr>
          <a:xfrm>
            <a:off x="4663440" y="44895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3e635"/>
                </a:solidFill>
                <a:latin typeface="Courier New"/>
                <a:ea typeface="Courier New"/>
              </a:rPr>
              <a:t>official.ballot=OPISYAL NA BALOTA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Audit &amp; Compliance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Risk-Limiting Audits with Arlo · Open formats · Secure by design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"/>
          <p:cNvSpPr/>
          <p:nvPr/>
        </p:nvSpPr>
        <p:spPr>
          <a:xfrm>
            <a:off x="365760" y="1143000"/>
            <a:ext cx="5303160" cy="2377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4"/>
          <p:cNvSpPr/>
          <p:nvPr/>
        </p:nvSpPr>
        <p:spPr>
          <a:xfrm>
            <a:off x="502920" y="12070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744"/>
                </a:solidFill>
                <a:latin typeface="Cambria"/>
                <a:ea typeface="Cambria"/>
              </a:rPr>
              <a:t>Risk-Limiting Audit (Arlo) Support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5"/>
          <p:cNvSpPr/>
          <p:nvPr/>
        </p:nvSpPr>
        <p:spPr>
          <a:xfrm>
            <a:off x="502920" y="165492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6"/>
          <p:cNvSpPr/>
          <p:nvPr/>
        </p:nvSpPr>
        <p:spPr>
          <a:xfrm>
            <a:off x="502920" y="1645920"/>
            <a:ext cx="21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822960" y="163692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bCounter writes ballot_manifest.csv at scan end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8"/>
          <p:cNvSpPr/>
          <p:nvPr/>
        </p:nvSpPr>
        <p:spPr>
          <a:xfrm>
            <a:off x="502920" y="202068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9"/>
          <p:cNvSpPr/>
          <p:nvPr/>
        </p:nvSpPr>
        <p:spPr>
          <a:xfrm>
            <a:off x="502920" y="2011680"/>
            <a:ext cx="21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10"/>
          <p:cNvSpPr/>
          <p:nvPr/>
        </p:nvSpPr>
        <p:spPr>
          <a:xfrm>
            <a:off x="822960" y="200268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bCounter writes cvr_export.csv (Cast Vote Record)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11"/>
          <p:cNvSpPr/>
          <p:nvPr/>
        </p:nvSpPr>
        <p:spPr>
          <a:xfrm>
            <a:off x="502920" y="238644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2"/>
          <p:cNvSpPr/>
          <p:nvPr/>
        </p:nvSpPr>
        <p:spPr>
          <a:xfrm>
            <a:off x="502920" y="2377440"/>
            <a:ext cx="21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13"/>
          <p:cNvSpPr/>
          <p:nvPr/>
        </p:nvSpPr>
        <p:spPr>
          <a:xfrm>
            <a:off x="822960" y="236844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Upload both files to Arlo (voting.works/arlo)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14"/>
          <p:cNvSpPr/>
          <p:nvPr/>
        </p:nvSpPr>
        <p:spPr>
          <a:xfrm>
            <a:off x="502920" y="275220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5"/>
          <p:cNvSpPr/>
          <p:nvPr/>
        </p:nvSpPr>
        <p:spPr>
          <a:xfrm>
            <a:off x="502920" y="2743200"/>
            <a:ext cx="21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16"/>
          <p:cNvSpPr/>
          <p:nvPr/>
        </p:nvSpPr>
        <p:spPr>
          <a:xfrm>
            <a:off x="822960" y="273420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Arlo computes a statistical sample of physical ballots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7"/>
          <p:cNvSpPr/>
          <p:nvPr/>
        </p:nvSpPr>
        <p:spPr>
          <a:xfrm>
            <a:off x="502920" y="3117960"/>
            <a:ext cx="219240" cy="2192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18"/>
          <p:cNvSpPr/>
          <p:nvPr/>
        </p:nvSpPr>
        <p:spPr>
          <a:xfrm>
            <a:off x="502920" y="3108960"/>
            <a:ext cx="219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9"/>
          <p:cNvSpPr/>
          <p:nvPr/>
        </p:nvSpPr>
        <p:spPr>
          <a:xfrm>
            <a:off x="822960" y="3099960"/>
            <a:ext cx="466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75569"/>
                </a:solidFill>
                <a:latin typeface="Calibri"/>
                <a:ea typeface="Calibri"/>
              </a:rPr>
              <a:t>Auditors hand-tally the sample — Arlo computes risk level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20"/>
          <p:cNvSpPr/>
          <p:nvPr/>
        </p:nvSpPr>
        <p:spPr>
          <a:xfrm>
            <a:off x="365760" y="3657600"/>
            <a:ext cx="53031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21"/>
          <p:cNvSpPr/>
          <p:nvPr/>
        </p:nvSpPr>
        <p:spPr>
          <a:xfrm>
            <a:off x="502920" y="37216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744"/>
                </a:solidFill>
                <a:latin typeface="Cambria"/>
                <a:ea typeface="Cambria"/>
              </a:rPr>
              <a:t>Security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22"/>
          <p:cNvSpPr/>
          <p:nvPr/>
        </p:nvSpPr>
        <p:spPr>
          <a:xfrm>
            <a:off x="502920" y="4041720"/>
            <a:ext cx="502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7377"/>
                </a:solidFill>
                <a:latin typeface="Calibri"/>
                <a:ea typeface="Calibri"/>
              </a:rPr>
              <a:t>🔒 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CSRF protection, Content-Security-Policy, X-Frame-Options on all pages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23"/>
          <p:cNvSpPr/>
          <p:nvPr/>
        </p:nvSpPr>
        <p:spPr>
          <a:xfrm>
            <a:off x="502920" y="4297680"/>
            <a:ext cx="502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7377"/>
                </a:solidFill>
                <a:latin typeface="Calibri"/>
                <a:ea typeface="Calibri"/>
              </a:rPr>
              <a:t>🔒 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BCrypt password hashing (cost factor 12) · Session fixation protection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24"/>
          <p:cNvSpPr/>
          <p:nvPr/>
        </p:nvSpPr>
        <p:spPr>
          <a:xfrm>
            <a:off x="502920" y="4553640"/>
            <a:ext cx="5028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d7377"/>
                </a:solidFill>
                <a:latin typeface="Calibri"/>
                <a:ea typeface="Calibri"/>
              </a:rPr>
              <a:t>🔒  </a:t>
            </a: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Parameterised JPA queries · Thymeleaf HTML auto-escaping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25"/>
          <p:cNvSpPr/>
          <p:nvPr/>
        </p:nvSpPr>
        <p:spPr>
          <a:xfrm>
            <a:off x="5852160" y="1143000"/>
            <a:ext cx="2925720" cy="374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26"/>
          <p:cNvSpPr/>
          <p:nvPr/>
        </p:nvSpPr>
        <p:spPr>
          <a:xfrm>
            <a:off x="5943600" y="12070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744"/>
                </a:solidFill>
                <a:latin typeface="Cambria"/>
                <a:ea typeface="Cambria"/>
              </a:rPr>
              <a:t>Open Formats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7"/>
          <p:cNvSpPr/>
          <p:nvPr/>
        </p:nvSpPr>
        <p:spPr>
          <a:xfrm>
            <a:off x="5943600" y="1572840"/>
            <a:ext cx="594000" cy="255600"/>
          </a:xfrm>
          <a:prstGeom prst="roundRect">
            <a:avLst>
              <a:gd name="adj" fmla="val 17857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28"/>
          <p:cNvSpPr/>
          <p:nvPr/>
        </p:nvSpPr>
        <p:spPr>
          <a:xfrm>
            <a:off x="5943600" y="15728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YAML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29"/>
          <p:cNvSpPr/>
          <p:nvPr/>
        </p:nvSpPr>
        <p:spPr>
          <a:xfrm>
            <a:off x="6602040" y="15818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Indicator positions for alternative counters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30"/>
          <p:cNvSpPr/>
          <p:nvPr/>
        </p:nvSpPr>
        <p:spPr>
          <a:xfrm>
            <a:off x="5943600" y="2030040"/>
            <a:ext cx="594000" cy="255600"/>
          </a:xfrm>
          <a:prstGeom prst="roundRect">
            <a:avLst>
              <a:gd name="adj" fmla="val 17857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31"/>
          <p:cNvSpPr/>
          <p:nvPr/>
        </p:nvSpPr>
        <p:spPr>
          <a:xfrm>
            <a:off x="5943600" y="20300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XML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32"/>
          <p:cNvSpPr/>
          <p:nvPr/>
        </p:nvSpPr>
        <p:spPr>
          <a:xfrm>
            <a:off x="6602040" y="20390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Same positions in XML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33"/>
          <p:cNvSpPr/>
          <p:nvPr/>
        </p:nvSpPr>
        <p:spPr>
          <a:xfrm>
            <a:off x="5943600" y="2487240"/>
            <a:ext cx="594000" cy="255600"/>
          </a:xfrm>
          <a:prstGeom prst="roundRect">
            <a:avLst>
              <a:gd name="adj" fmla="val 17857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34"/>
          <p:cNvSpPr/>
          <p:nvPr/>
        </p:nvSpPr>
        <p:spPr>
          <a:xfrm>
            <a:off x="5943600" y="24872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CSV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35"/>
          <p:cNvSpPr/>
          <p:nvPr/>
        </p:nvSpPr>
        <p:spPr>
          <a:xfrm>
            <a:off x="6602040" y="24962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Arlo manifest &amp; CVR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6"/>
          <p:cNvSpPr/>
          <p:nvPr/>
        </p:nvSpPr>
        <p:spPr>
          <a:xfrm>
            <a:off x="5943600" y="2944440"/>
            <a:ext cx="594000" cy="255600"/>
          </a:xfrm>
          <a:prstGeom prst="roundRect">
            <a:avLst>
              <a:gd name="adj" fmla="val 17857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37"/>
          <p:cNvSpPr/>
          <p:nvPr/>
        </p:nvSpPr>
        <p:spPr>
          <a:xfrm>
            <a:off x="5943600" y="29444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HTML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38"/>
          <p:cNvSpPr/>
          <p:nvPr/>
        </p:nvSpPr>
        <p:spPr>
          <a:xfrm>
            <a:off x="6602040" y="29534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Results &amp; RCV reports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39"/>
          <p:cNvSpPr/>
          <p:nvPr/>
        </p:nvSpPr>
        <p:spPr>
          <a:xfrm>
            <a:off x="5943600" y="3401640"/>
            <a:ext cx="594000" cy="255600"/>
          </a:xfrm>
          <a:prstGeom prst="roundRect">
            <a:avLst>
              <a:gd name="adj" fmla="val 17857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40"/>
          <p:cNvSpPr/>
          <p:nvPr/>
        </p:nvSpPr>
        <p:spPr>
          <a:xfrm>
            <a:off x="5943600" y="34016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PDF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41"/>
          <p:cNvSpPr/>
          <p:nvPr/>
        </p:nvSpPr>
        <p:spPr>
          <a:xfrm>
            <a:off x="6602040" y="34106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Printable ballot PDFs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42"/>
          <p:cNvSpPr/>
          <p:nvPr/>
        </p:nvSpPr>
        <p:spPr>
          <a:xfrm>
            <a:off x="5943600" y="3858840"/>
            <a:ext cx="594000" cy="255600"/>
          </a:xfrm>
          <a:prstGeom prst="roundRect">
            <a:avLst>
              <a:gd name="adj" fmla="val 17857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43"/>
          <p:cNvSpPr/>
          <p:nvPr/>
        </p:nvSpPr>
        <p:spPr>
          <a:xfrm>
            <a:off x="5943600" y="38588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JSON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44"/>
          <p:cNvSpPr/>
          <p:nvPr/>
        </p:nvSpPr>
        <p:spPr>
          <a:xfrm>
            <a:off x="6602040" y="38678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Verify report &amp; API responses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45"/>
          <p:cNvSpPr/>
          <p:nvPr/>
        </p:nvSpPr>
        <p:spPr>
          <a:xfrm>
            <a:off x="5943600" y="4316040"/>
            <a:ext cx="594000" cy="255600"/>
          </a:xfrm>
          <a:prstGeom prst="roundRect">
            <a:avLst>
              <a:gd name="adj" fmla="val 17857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46"/>
          <p:cNvSpPr/>
          <p:nvPr/>
        </p:nvSpPr>
        <p:spPr>
          <a:xfrm>
            <a:off x="5943600" y="431604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SQLite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47"/>
          <p:cNvSpPr/>
          <p:nvPr/>
        </p:nvSpPr>
        <p:spPr>
          <a:xfrm>
            <a:off x="6602040" y="4325040"/>
            <a:ext cx="2057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75569"/>
                </a:solidFill>
                <a:latin typeface="Calibri"/>
                <a:ea typeface="Calibri"/>
              </a:rPr>
              <a:t>Portable scan results database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1"/>
          <p:cNvSpPr/>
          <p:nvPr/>
        </p:nvSpPr>
        <p:spPr>
          <a:xfrm>
            <a:off x="365760" y="109800"/>
            <a:ext cx="8412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Test Harness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2"/>
          <p:cNvSpPr/>
          <p:nvPr/>
        </p:nvSpPr>
        <p:spPr>
          <a:xfrm>
            <a:off x="365760" y="7131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adcfc"/>
                </a:solidFill>
                <a:latin typeface="Calibri"/>
                <a:ea typeface="Calibri"/>
              </a:rPr>
              <a:t>End-to-end automated validation — 3,960 images, 100% accuracy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3"/>
          <p:cNvSpPr/>
          <p:nvPr/>
        </p:nvSpPr>
        <p:spPr>
          <a:xfrm>
            <a:off x="274320" y="1188720"/>
            <a:ext cx="1599840" cy="59400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4"/>
          <p:cNvSpPr/>
          <p:nvPr/>
        </p:nvSpPr>
        <p:spPr>
          <a:xfrm>
            <a:off x="347400" y="1216080"/>
            <a:ext cx="1453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build_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election.py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5"/>
          <p:cNvSpPr/>
          <p:nvPr/>
        </p:nvSpPr>
        <p:spPr>
          <a:xfrm>
            <a:off x="311040" y="1874520"/>
            <a:ext cx="152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Creates a complete test election via bBuilder REST API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6"/>
          <p:cNvSpPr/>
          <p:nvPr/>
        </p:nvSpPr>
        <p:spPr>
          <a:xfrm>
            <a:off x="1901880" y="1481040"/>
            <a:ext cx="82080" cy="360"/>
          </a:xfrm>
          <a:prstGeom prst="line">
            <a:avLst/>
          </a:prstGeom>
          <a:ln w="1905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7"/>
          <p:cNvSpPr/>
          <p:nvPr/>
        </p:nvSpPr>
        <p:spPr>
          <a:xfrm>
            <a:off x="1984320" y="1188720"/>
            <a:ext cx="1599840" cy="59400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8"/>
          <p:cNvSpPr/>
          <p:nvPr/>
        </p:nvSpPr>
        <p:spPr>
          <a:xfrm>
            <a:off x="2057400" y="1216080"/>
            <a:ext cx="1453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mark_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ballots.py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9"/>
          <p:cNvSpPr/>
          <p:nvPr/>
        </p:nvSpPr>
        <p:spPr>
          <a:xfrm>
            <a:off x="2020680" y="1874520"/>
            <a:ext cx="152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Rasterizes PDFs and marks 11 voter scenarios including ranked-choice splits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10"/>
          <p:cNvSpPr/>
          <p:nvPr/>
        </p:nvSpPr>
        <p:spPr>
          <a:xfrm>
            <a:off x="3611880" y="1481040"/>
            <a:ext cx="82080" cy="360"/>
          </a:xfrm>
          <a:prstGeom prst="line">
            <a:avLst/>
          </a:prstGeom>
          <a:ln w="1905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1"/>
          <p:cNvSpPr/>
          <p:nvPr/>
        </p:nvSpPr>
        <p:spPr>
          <a:xfrm>
            <a:off x="3694320" y="1188720"/>
            <a:ext cx="1599840" cy="59400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12"/>
          <p:cNvSpPr/>
          <p:nvPr/>
        </p:nvSpPr>
        <p:spPr>
          <a:xfrm>
            <a:off x="3767400" y="1216080"/>
            <a:ext cx="1453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distort_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ballots.py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13"/>
          <p:cNvSpPr/>
          <p:nvPr/>
        </p:nvSpPr>
        <p:spPr>
          <a:xfrm>
            <a:off x="3730680" y="1874520"/>
            <a:ext cx="152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Applies 15 geometric distortions × N copies per scenario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4"/>
          <p:cNvSpPr/>
          <p:nvPr/>
        </p:nvSpPr>
        <p:spPr>
          <a:xfrm>
            <a:off x="5321520" y="1481040"/>
            <a:ext cx="82440" cy="360"/>
          </a:xfrm>
          <a:prstGeom prst="line">
            <a:avLst/>
          </a:prstGeom>
          <a:ln w="1905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5"/>
          <p:cNvSpPr/>
          <p:nvPr/>
        </p:nvSpPr>
        <p:spPr>
          <a:xfrm>
            <a:off x="5403960" y="1188720"/>
            <a:ext cx="1599840" cy="59400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16"/>
          <p:cNvSpPr/>
          <p:nvPr/>
        </p:nvSpPr>
        <p:spPr>
          <a:xfrm>
            <a:off x="5477400" y="1216080"/>
            <a:ext cx="1453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run_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counter.py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17"/>
          <p:cNvSpPr/>
          <p:nvPr/>
        </p:nvSpPr>
        <p:spPr>
          <a:xfrm>
            <a:off x="5440680" y="1874520"/>
            <a:ext cx="152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Drives bCounter to scan all images, waits for tally to complete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8"/>
          <p:cNvSpPr/>
          <p:nvPr/>
        </p:nvSpPr>
        <p:spPr>
          <a:xfrm>
            <a:off x="7031520" y="1481040"/>
            <a:ext cx="82440" cy="360"/>
          </a:xfrm>
          <a:prstGeom prst="line">
            <a:avLst/>
          </a:prstGeom>
          <a:ln w="19050">
            <a:solidFill>
              <a:srgbClr val="0d73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9"/>
          <p:cNvSpPr/>
          <p:nvPr/>
        </p:nvSpPr>
        <p:spPr>
          <a:xfrm>
            <a:off x="7113960" y="1188720"/>
            <a:ext cx="1599840" cy="594000"/>
          </a:xfrm>
          <a:prstGeom prst="roundRect">
            <a:avLst>
              <a:gd name="adj" fmla="val 10769"/>
            </a:avLst>
          </a:prstGeom>
          <a:solidFill>
            <a:srgbClr val="1a2744"/>
          </a:solidFill>
          <a:ln w="12700">
            <a:solidFill>
              <a:srgbClr val="1a2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0"/>
          <p:cNvSpPr/>
          <p:nvPr/>
        </p:nvSpPr>
        <p:spPr>
          <a:xfrm>
            <a:off x="7187040" y="1216080"/>
            <a:ext cx="14536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verify_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urier New"/>
                <a:ea typeface="Courier New"/>
              </a:rPr>
              <a:t>results.py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21"/>
          <p:cNvSpPr/>
          <p:nvPr/>
        </p:nvSpPr>
        <p:spPr>
          <a:xfrm>
            <a:off x="7150680" y="1874520"/>
            <a:ext cx="1526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75569"/>
                </a:solidFill>
                <a:latin typeface="Calibri"/>
                <a:ea typeface="Calibri"/>
              </a:rPr>
              <a:t>Compares DB vote counts against ground truth JSON — reports accuracy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22"/>
          <p:cNvSpPr/>
          <p:nvPr/>
        </p:nvSpPr>
        <p:spPr>
          <a:xfrm>
            <a:off x="365760" y="28346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744"/>
                </a:solidFill>
                <a:latin typeface="Cambria"/>
                <a:ea typeface="Cambria"/>
              </a:rPr>
              <a:t>Test distortions include: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3"/>
          <p:cNvSpPr/>
          <p:nvPr/>
        </p:nvSpPr>
        <p:spPr>
          <a:xfrm>
            <a:off x="365760" y="315468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24"/>
          <p:cNvSpPr/>
          <p:nvPr/>
        </p:nvSpPr>
        <p:spPr>
          <a:xfrm>
            <a:off x="365760" y="31636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Clean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5"/>
          <p:cNvSpPr/>
          <p:nvPr/>
        </p:nvSpPr>
        <p:spPr>
          <a:xfrm>
            <a:off x="1810440" y="315468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26"/>
          <p:cNvSpPr/>
          <p:nvPr/>
        </p:nvSpPr>
        <p:spPr>
          <a:xfrm>
            <a:off x="1810440" y="31636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Skew left/right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7"/>
          <p:cNvSpPr/>
          <p:nvPr/>
        </p:nvSpPr>
        <p:spPr>
          <a:xfrm>
            <a:off x="3255120" y="315468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28"/>
          <p:cNvSpPr/>
          <p:nvPr/>
        </p:nvSpPr>
        <p:spPr>
          <a:xfrm>
            <a:off x="3255120" y="316368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Rotation ±1°/1.5°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9"/>
          <p:cNvSpPr/>
          <p:nvPr/>
        </p:nvSpPr>
        <p:spPr>
          <a:xfrm>
            <a:off x="365760" y="347472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30"/>
          <p:cNvSpPr/>
          <p:nvPr/>
        </p:nvSpPr>
        <p:spPr>
          <a:xfrm>
            <a:off x="365760" y="34837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Perspective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1"/>
          <p:cNvSpPr/>
          <p:nvPr/>
        </p:nvSpPr>
        <p:spPr>
          <a:xfrm>
            <a:off x="1810440" y="347472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32"/>
          <p:cNvSpPr/>
          <p:nvPr/>
        </p:nvSpPr>
        <p:spPr>
          <a:xfrm>
            <a:off x="1810440" y="34837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Upside down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3"/>
          <p:cNvSpPr/>
          <p:nvPr/>
        </p:nvSpPr>
        <p:spPr>
          <a:xfrm>
            <a:off x="3255120" y="347472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34"/>
          <p:cNvSpPr/>
          <p:nvPr/>
        </p:nvSpPr>
        <p:spPr>
          <a:xfrm>
            <a:off x="3255120" y="34837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Translation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35"/>
          <p:cNvSpPr/>
          <p:nvPr/>
        </p:nvSpPr>
        <p:spPr>
          <a:xfrm>
            <a:off x="365760" y="347472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36"/>
          <p:cNvSpPr/>
          <p:nvPr/>
        </p:nvSpPr>
        <p:spPr>
          <a:xfrm>
            <a:off x="365760" y="34837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Combined rotation+translation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37"/>
          <p:cNvSpPr/>
          <p:nvPr/>
        </p:nvSpPr>
        <p:spPr>
          <a:xfrm>
            <a:off x="1810440" y="347472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38"/>
          <p:cNvSpPr/>
          <p:nvPr/>
        </p:nvSpPr>
        <p:spPr>
          <a:xfrm>
            <a:off x="1810440" y="34837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Scale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39"/>
          <p:cNvSpPr/>
          <p:nvPr/>
        </p:nvSpPr>
        <p:spPr>
          <a:xfrm>
            <a:off x="3255120" y="3474720"/>
            <a:ext cx="1325520" cy="255600"/>
          </a:xfrm>
          <a:prstGeom prst="roundRect">
            <a:avLst>
              <a:gd name="adj" fmla="val 17857"/>
            </a:avLst>
          </a:prstGeom>
          <a:solidFill>
            <a:srgbClr val="ebf4f8"/>
          </a:solidFill>
          <a:ln w="6350">
            <a:solidFill>
              <a:srgbClr val="bfdb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40"/>
          <p:cNvSpPr/>
          <p:nvPr/>
        </p:nvSpPr>
        <p:spPr>
          <a:xfrm>
            <a:off x="3255120" y="3483720"/>
            <a:ext cx="132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744"/>
                </a:solidFill>
                <a:latin typeface="Calibri"/>
                <a:ea typeface="Calibri"/>
              </a:rPr>
              <a:t>Blur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41"/>
          <p:cNvSpPr/>
          <p:nvPr/>
        </p:nvSpPr>
        <p:spPr>
          <a:xfrm>
            <a:off x="4754880" y="2743200"/>
            <a:ext cx="4023000" cy="21484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6350">
            <a:solidFill>
              <a:srgbClr val="d1d5db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42"/>
          <p:cNvSpPr/>
          <p:nvPr/>
        </p:nvSpPr>
        <p:spPr>
          <a:xfrm>
            <a:off x="4754880" y="2834640"/>
            <a:ext cx="4023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16a34a"/>
                </a:solidFill>
                <a:latin typeface="Cambria"/>
                <a:ea typeface="Cambria"/>
              </a:rPr>
              <a:t>100%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 43"/>
          <p:cNvSpPr/>
          <p:nvPr/>
        </p:nvSpPr>
        <p:spPr>
          <a:xfrm>
            <a:off x="4754880" y="3749040"/>
            <a:ext cx="4023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Accuracy across 3,960 images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88 contest/combination pairs matched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0"/>
          <p:cNvSpPr/>
          <p:nvPr/>
        </p:nvSpPr>
        <p:spPr>
          <a:xfrm>
            <a:off x="457200" y="2286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Getting Started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"/>
          <p:cNvSpPr/>
          <p:nvPr/>
        </p:nvSpPr>
        <p:spPr>
          <a:xfrm>
            <a:off x="457200" y="7772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fa8c8"/>
                </a:solidFill>
                <a:latin typeface="Calibri"/>
                <a:ea typeface="Calibri"/>
              </a:rPr>
              <a:t>github.com/mjtrac/bSuite  ·  IT Installation Guide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2"/>
          <p:cNvSpPr/>
          <p:nvPr/>
        </p:nvSpPr>
        <p:spPr>
          <a:xfrm>
            <a:off x="365760" y="1143000"/>
            <a:ext cx="4023000" cy="3748680"/>
          </a:xfrm>
          <a:prstGeom prst="roundRect">
            <a:avLst>
              <a:gd name="adj" fmla="val 1951"/>
            </a:avLst>
          </a:prstGeom>
          <a:solidFill>
            <a:srgbClr val="1e293b"/>
          </a:solidFill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3"/>
          <p:cNvSpPr/>
          <p:nvPr/>
        </p:nvSpPr>
        <p:spPr>
          <a:xfrm>
            <a:off x="502920" y="12070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dd3fc"/>
                </a:solidFill>
                <a:latin typeface="Cambria"/>
                <a:ea typeface="Cambria"/>
              </a:rPr>
              <a:t>Requirements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4"/>
          <p:cNvSpPr/>
          <p:nvPr/>
        </p:nvSpPr>
        <p:spPr>
          <a:xfrm>
            <a:off x="502920" y="157284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Java 21 or later   (java -version)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5"/>
          <p:cNvSpPr/>
          <p:nvPr/>
        </p:nvSpPr>
        <p:spPr>
          <a:xfrm>
            <a:off x="502920" y="192024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Maven 3.9+   (included as mvnw wrapper)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6"/>
          <p:cNvSpPr/>
          <p:nvPr/>
        </p:nvSpPr>
        <p:spPr>
          <a:xfrm>
            <a:off x="502920" y="226764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Python 3.9+  (for test harness only)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7"/>
          <p:cNvSpPr/>
          <p:nvPr/>
        </p:nvSpPr>
        <p:spPr>
          <a:xfrm>
            <a:off x="502920" y="261504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8 GB RAM recommended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8"/>
          <p:cNvSpPr/>
          <p:nvPr/>
        </p:nvSpPr>
        <p:spPr>
          <a:xfrm>
            <a:off x="502920" y="296280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e2e8f0"/>
                </a:solidFill>
                <a:latin typeface="Calibri"/>
                <a:ea typeface="Calibri"/>
              </a:rPr>
              <a:t>macOS, Linux, or Windows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9"/>
          <p:cNvSpPr/>
          <p:nvPr/>
        </p:nvSpPr>
        <p:spPr>
          <a:xfrm>
            <a:off x="502920" y="34016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dd3fc"/>
                </a:solidFill>
                <a:latin typeface="Cambria"/>
                <a:ea typeface="Cambria"/>
              </a:rPr>
              <a:t>Clone &amp; run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10"/>
          <p:cNvSpPr/>
          <p:nvPr/>
        </p:nvSpPr>
        <p:spPr>
          <a:xfrm>
            <a:off x="502920" y="37490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3e635"/>
                </a:solidFill>
                <a:latin typeface="Courier New"/>
                <a:ea typeface="Courier New"/>
              </a:rPr>
              <a:t>git clone https://github.com/mjtrac/bSuite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11"/>
          <p:cNvSpPr/>
          <p:nvPr/>
        </p:nvSpPr>
        <p:spPr>
          <a:xfrm>
            <a:off x="502920" y="393192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3e635"/>
                </a:solidFill>
                <a:latin typeface="Courier New"/>
                <a:ea typeface="Courier New"/>
              </a:rPr>
              <a:t>cd bSuite/bBuilder &amp;&amp; ./mvnw spring-boot:run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12"/>
          <p:cNvSpPr/>
          <p:nvPr/>
        </p:nvSpPr>
        <p:spPr>
          <a:xfrm>
            <a:off x="502920" y="411480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3e635"/>
                </a:solidFill>
                <a:latin typeface="Courier New"/>
                <a:ea typeface="Courier New"/>
              </a:rPr>
              <a:t>cd bSuite/bCounter &amp;&amp; ./mvnw spring-boot:run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13"/>
          <p:cNvSpPr/>
          <p:nvPr/>
        </p:nvSpPr>
        <p:spPr>
          <a:xfrm>
            <a:off x="502920" y="429768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ourier New"/>
                <a:ea typeface="Courier New"/>
              </a:rPr>
              <a:t># bBuilder → http://localhost:8080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14"/>
          <p:cNvSpPr/>
          <p:nvPr/>
        </p:nvSpPr>
        <p:spPr>
          <a:xfrm>
            <a:off x="502920" y="448056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ourier New"/>
                <a:ea typeface="Courier New"/>
              </a:rPr>
              <a:t># bCounter → http://localhost:8081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5"/>
          <p:cNvSpPr/>
          <p:nvPr/>
        </p:nvSpPr>
        <p:spPr>
          <a:xfrm>
            <a:off x="502920" y="46634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ourier New"/>
                <a:ea typeface="Courier New"/>
              </a:rPr>
              <a:t># bViewer  → http://localhost:8082/viewer/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16"/>
          <p:cNvSpPr/>
          <p:nvPr/>
        </p:nvSpPr>
        <p:spPr>
          <a:xfrm>
            <a:off x="4572000" y="1143000"/>
            <a:ext cx="4205880" cy="1828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17"/>
          <p:cNvSpPr/>
          <p:nvPr/>
        </p:nvSpPr>
        <p:spPr>
          <a:xfrm>
            <a:off x="4663440" y="12070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dd3fc"/>
                </a:solidFill>
                <a:latin typeface="Cambria"/>
                <a:ea typeface="Cambria"/>
              </a:rPr>
              <a:t>macOS — Double-click Launcher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18"/>
          <p:cNvSpPr/>
          <p:nvPr/>
        </p:nvSpPr>
        <p:spPr>
          <a:xfrm>
            <a:off x="4663440" y="15728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# Place bSuite.app inside the bSuite/ folder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19"/>
          <p:cNvSpPr/>
          <p:nvPr/>
        </p:nvSpPr>
        <p:spPr>
          <a:xfrm>
            <a:off x="4663440" y="18014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64748b"/>
                </a:solidFill>
                <a:latin typeface="Courier New"/>
                <a:ea typeface="Courier New"/>
              </a:rPr>
              <a:t># First run — remove macOS quarantine: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20"/>
          <p:cNvSpPr/>
          <p:nvPr/>
        </p:nvSpPr>
        <p:spPr>
          <a:xfrm>
            <a:off x="4663440" y="20300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3e635"/>
                </a:solidFill>
                <a:latin typeface="Courier New"/>
                <a:ea typeface="Courier New"/>
              </a:rPr>
              <a:t>xattr -cr /path/to/bSuite/bSuite.app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21"/>
          <p:cNvSpPr/>
          <p:nvPr/>
        </p:nvSpPr>
        <p:spPr>
          <a:xfrm>
            <a:off x="4663440" y="2258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3e635"/>
                </a:solidFill>
                <a:latin typeface="Courier New"/>
                <a:ea typeface="Courier New"/>
              </a:rPr>
              <a:t>open /path/to/bSuite/bSuite.app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22"/>
          <p:cNvSpPr/>
          <p:nvPr/>
        </p:nvSpPr>
        <p:spPr>
          <a:xfrm>
            <a:off x="4663440" y="260604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  <a:ea typeface="Calibri"/>
              </a:rPr>
              <a:t>Or use cross-platform Python launcher: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23"/>
          <p:cNvSpPr/>
          <p:nvPr/>
        </p:nvSpPr>
        <p:spPr>
          <a:xfrm>
            <a:off x="4663440" y="283464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3e635"/>
                </a:solidFill>
                <a:latin typeface="Courier New"/>
                <a:ea typeface="Courier New"/>
              </a:rPr>
              <a:t>python3 bsuite_launcher.py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Shape 24"/>
          <p:cNvSpPr/>
          <p:nvPr/>
        </p:nvSpPr>
        <p:spPr>
          <a:xfrm>
            <a:off x="4572000" y="3108960"/>
            <a:ext cx="4205880" cy="178272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635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25"/>
          <p:cNvSpPr/>
          <p:nvPr/>
        </p:nvSpPr>
        <p:spPr>
          <a:xfrm>
            <a:off x="4663440" y="317304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dd3fc"/>
                </a:solidFill>
                <a:latin typeface="Cambria"/>
                <a:ea typeface="Cambria"/>
              </a:rPr>
              <a:t>Configuration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26"/>
          <p:cNvSpPr/>
          <p:nvPr/>
        </p:nvSpPr>
        <p:spPr>
          <a:xfrm>
            <a:off x="4663440" y="352044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ourier New"/>
                <a:ea typeface="Courier New"/>
              </a:rPr>
              <a:t># bBuilder/src/main/resources/application.properties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27"/>
          <p:cNvSpPr/>
          <p:nvPr/>
        </p:nvSpPr>
        <p:spPr>
          <a:xfrm>
            <a:off x="4663440" y="372168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3e635"/>
                </a:solidFill>
                <a:latin typeface="Courier New"/>
                <a:ea typeface="Courier New"/>
              </a:rPr>
              <a:t>ballot.export.dir=/path/to/ballot/output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Text 28"/>
          <p:cNvSpPr/>
          <p:nvPr/>
        </p:nvSpPr>
        <p:spPr>
          <a:xfrm>
            <a:off x="4663440" y="392292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3e635"/>
                </a:solidFill>
                <a:latin typeface="Courier New"/>
                <a:ea typeface="Courier New"/>
              </a:rPr>
              <a:t>app.login-title=My County Election System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29"/>
          <p:cNvSpPr/>
          <p:nvPr/>
        </p:nvSpPr>
        <p:spPr>
          <a:xfrm>
            <a:off x="4663440" y="412380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ourier New"/>
                <a:ea typeface="Courier New"/>
              </a:rPr>
              <a:t># bCounter/src/main/resources/application.properties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0"/>
          <p:cNvSpPr/>
          <p:nvPr/>
        </p:nvSpPr>
        <p:spPr>
          <a:xfrm>
            <a:off x="4663440" y="432504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3e635"/>
                </a:solidFill>
                <a:latin typeface="Courier New"/>
                <a:ea typeface="Courier New"/>
              </a:rPr>
              <a:t>reports.output.dir=/path/to/reports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31"/>
          <p:cNvSpPr/>
          <p:nvPr/>
        </p:nvSpPr>
        <p:spPr>
          <a:xfrm>
            <a:off x="4663440" y="4526280"/>
            <a:ext cx="3931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3e635"/>
                </a:solidFill>
                <a:latin typeface="Courier New"/>
                <a:ea typeface="Courier New"/>
              </a:rPr>
              <a:t>viewer.password=ChangeMe123!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 32"/>
          <p:cNvSpPr/>
          <p:nvPr/>
        </p:nvSpPr>
        <p:spPr>
          <a:xfrm>
            <a:off x="457200" y="4846320"/>
            <a:ext cx="8229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475569"/>
                </a:solidFill>
                <a:latin typeface="Calibri"/>
                <a:ea typeface="Calibri"/>
              </a:rPr>
              <a:t>GNU General Public License v3  ·  Copyright © 2026 Mitch Trachtenberg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LibreOffice/7.5.2.2$MacOSX_AARCH64 LibreOffice_project/53bb9681a964705cf672590721dbc85eb4d0c3a2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2026-06-23T22:39:22Z</dcterms:created>
  <dc:creator>Mitch Trachtenberg</dc:creator>
  <dc:description/>
  <dc:language>en-US</dc:language>
  <cp:lastModifiedBy/>
  <dcterms:modified xsi:type="dcterms:W3CDTF">2026-06-23T16:15:12Z</dcterms:modified>
  <cp:revision>2</cp:revision>
  <dc:subject>PptxGenJS Presentation</dc:subject>
  <dc:title>bSuite — Election Ballot Management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